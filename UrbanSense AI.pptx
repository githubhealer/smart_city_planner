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7" r:id="rId3"/>
    <p:sldId id="258" r:id="rId4"/>
    <p:sldId id="267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D3F5"/>
    <a:srgbClr val="B6D8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68649E6-6DAC-9D08-BB64-70FD54DFA0F8}"/>
              </a:ext>
            </a:extLst>
          </p:cNvPr>
          <p:cNvSpPr/>
          <p:nvPr/>
        </p:nvSpPr>
        <p:spPr>
          <a:xfrm>
            <a:off x="434093" y="853882"/>
            <a:ext cx="9899609" cy="4861118"/>
          </a:xfrm>
          <a:prstGeom prst="rect">
            <a:avLst/>
          </a:prstGeom>
          <a:gradFill>
            <a:gsLst>
              <a:gs pos="0">
                <a:srgbClr val="A8D3F5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3BC9FB-FA9D-0049-7A74-AA0941D17BAC}"/>
              </a:ext>
            </a:extLst>
          </p:cNvPr>
          <p:cNvSpPr/>
          <p:nvPr/>
        </p:nvSpPr>
        <p:spPr>
          <a:xfrm>
            <a:off x="749808" y="914400"/>
            <a:ext cx="640080" cy="64008"/>
          </a:xfrm>
          <a:prstGeom prst="rect">
            <a:avLst/>
          </a:prstGeom>
          <a:solidFill>
            <a:srgbClr val="2B7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E15535-9308-AD62-5453-FED58BDFD41E}"/>
              </a:ext>
            </a:extLst>
          </p:cNvPr>
          <p:cNvSpPr txBox="1"/>
          <p:nvPr/>
        </p:nvSpPr>
        <p:spPr>
          <a:xfrm>
            <a:off x="749808" y="1849653"/>
            <a:ext cx="3283271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lang="en-IN" sz="3600" b="1" dirty="0" err="1">
                <a:solidFill>
                  <a:srgbClr val="103156"/>
                </a:solidFill>
                <a:latin typeface="Aptos"/>
              </a:rPr>
              <a:t>UrbanSense</a:t>
            </a:r>
            <a:r>
              <a:rPr lang="en-IN" sz="3600" b="1" dirty="0">
                <a:solidFill>
                  <a:srgbClr val="103156"/>
                </a:solidFill>
                <a:latin typeface="Aptos"/>
              </a:rPr>
              <a:t> AI</a:t>
            </a:r>
            <a:endParaRPr sz="3400" b="1" dirty="0">
              <a:solidFill>
                <a:srgbClr val="000000"/>
              </a:solidFill>
              <a:latin typeface="Aptos Display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D52A4F-BCCE-5DCB-D575-3EA4B11798E5}"/>
              </a:ext>
            </a:extLst>
          </p:cNvPr>
          <p:cNvSpPr txBox="1"/>
          <p:nvPr/>
        </p:nvSpPr>
        <p:spPr>
          <a:xfrm>
            <a:off x="768096" y="2618292"/>
            <a:ext cx="587851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000" b="1" dirty="0">
                <a:solidFill>
                  <a:srgbClr val="5B6C7C"/>
                </a:solidFill>
                <a:latin typeface="Aptos"/>
              </a:rPr>
              <a:t>Intelligent Urban Weather/Air Quality Prediction&amp; Decision Support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E0423A-D9D0-B0F2-58C4-0E027DBE19A2}"/>
              </a:ext>
            </a:extLst>
          </p:cNvPr>
          <p:cNvSpPr/>
          <p:nvPr/>
        </p:nvSpPr>
        <p:spPr>
          <a:xfrm>
            <a:off x="768096" y="3745698"/>
            <a:ext cx="233172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F04523-D33F-D561-366C-224747BE52B5}"/>
              </a:ext>
            </a:extLst>
          </p:cNvPr>
          <p:cNvSpPr txBox="1"/>
          <p:nvPr/>
        </p:nvSpPr>
        <p:spPr>
          <a:xfrm>
            <a:off x="6646606" y="4124061"/>
            <a:ext cx="25107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Presented by: </a:t>
            </a:r>
          </a:p>
          <a:p>
            <a:r>
              <a:rPr lang="en-US" sz="1200" b="1" dirty="0"/>
              <a:t>VIT - CHENNAI</a:t>
            </a:r>
          </a:p>
          <a:p>
            <a:endParaRPr lang="en-US" sz="1200" b="1" dirty="0">
              <a:solidFill>
                <a:srgbClr val="24303D"/>
              </a:solidFill>
              <a:latin typeface="Aptos"/>
            </a:endParaRPr>
          </a:p>
          <a:p>
            <a:r>
              <a:rPr lang="en-US" sz="1200" b="1" dirty="0">
                <a:solidFill>
                  <a:srgbClr val="24303D"/>
                </a:solidFill>
                <a:latin typeface="Aptos"/>
              </a:rPr>
              <a:t>1. 23BRS1076 - Sandeep Ganesh</a:t>
            </a:r>
          </a:p>
          <a:p>
            <a:r>
              <a:rPr lang="en-US" sz="1200" b="1" dirty="0">
                <a:solidFill>
                  <a:srgbClr val="24303D"/>
                </a:solidFill>
                <a:latin typeface="Aptos"/>
              </a:rPr>
              <a:t>2. 23BRS1374 – Rithikha S</a:t>
            </a:r>
          </a:p>
          <a:p>
            <a:r>
              <a:rPr lang="en-US" sz="1200" b="1" dirty="0">
                <a:solidFill>
                  <a:srgbClr val="24303D"/>
                </a:solidFill>
                <a:latin typeface="Aptos"/>
              </a:rPr>
              <a:t>3. 23BRS1258 – Jeffrey Navin</a:t>
            </a:r>
          </a:p>
          <a:p>
            <a:r>
              <a:rPr lang="en-US" sz="1200" b="1" dirty="0">
                <a:solidFill>
                  <a:srgbClr val="24303D"/>
                </a:solidFill>
                <a:latin typeface="Aptos"/>
              </a:rPr>
              <a:t>4. 23BRS1423 – Swetha Arul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DBF9C9-E646-CC29-847F-AA2A9263AAC5}"/>
              </a:ext>
            </a:extLst>
          </p:cNvPr>
          <p:cNvSpPr txBox="1"/>
          <p:nvPr/>
        </p:nvSpPr>
        <p:spPr>
          <a:xfrm>
            <a:off x="768096" y="4170228"/>
            <a:ext cx="2628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Purpose:</a:t>
            </a:r>
          </a:p>
          <a:p>
            <a:r>
              <a:rPr lang="en-US" sz="1200" b="1" dirty="0" err="1"/>
              <a:t>Exasol</a:t>
            </a:r>
            <a:r>
              <a:rPr lang="en-US" sz="1200" b="1" dirty="0"/>
              <a:t> AI Build Hackathon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73199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85800" y="1170432"/>
            <a:ext cx="594360" cy="64008"/>
          </a:xfrm>
          <a:prstGeom prst="rect">
            <a:avLst/>
          </a:prstGeom>
          <a:solidFill>
            <a:srgbClr val="2B7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65DD92-EE33-FD79-F206-60C9B305BFAA}"/>
              </a:ext>
            </a:extLst>
          </p:cNvPr>
          <p:cNvSpPr txBox="1"/>
          <p:nvPr/>
        </p:nvSpPr>
        <p:spPr>
          <a:xfrm>
            <a:off x="640080" y="38404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dirty="0">
                <a:solidFill>
                  <a:srgbClr val="266CA8"/>
                </a:solidFill>
                <a:latin typeface="Aptos"/>
              </a:rPr>
              <a:t>PROJECT OVERVIEW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EF7D38-C796-8E87-E730-E2B71B5A70D9}"/>
              </a:ext>
            </a:extLst>
          </p:cNvPr>
          <p:cNvSpPr txBox="1"/>
          <p:nvPr/>
        </p:nvSpPr>
        <p:spPr>
          <a:xfrm>
            <a:off x="640080" y="658368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dirty="0">
                <a:solidFill>
                  <a:srgbClr val="103156"/>
                </a:solidFill>
                <a:latin typeface="Aptos"/>
              </a:rPr>
              <a:t>Project Idea, Background &amp; Significance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358815-EE55-AA82-95CB-1CF37E3DCFF6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3156"/>
          </a:solidFill>
          <a:ln w="12700">
            <a:solidFill>
              <a:srgbClr val="103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500EF8-55FF-C380-7E62-DB289DEC0539}"/>
              </a:ext>
            </a:extLst>
          </p:cNvPr>
          <p:cNvSpPr/>
          <p:nvPr/>
        </p:nvSpPr>
        <p:spPr>
          <a:xfrm>
            <a:off x="640080" y="6510528"/>
            <a:ext cx="10908792" cy="18288"/>
          </a:xfrm>
          <a:prstGeom prst="rect">
            <a:avLst/>
          </a:prstGeom>
          <a:solidFill>
            <a:srgbClr val="BECDDA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7C6BBE-AA71-20C8-43F6-2EBF9EC86A57}"/>
              </a:ext>
            </a:extLst>
          </p:cNvPr>
          <p:cNvSpPr txBox="1"/>
          <p:nvPr/>
        </p:nvSpPr>
        <p:spPr>
          <a:xfrm>
            <a:off x="11082528" y="6556248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103156"/>
                </a:solidFill>
                <a:latin typeface="Aptos"/>
              </a:rPr>
              <a:t>02</a:t>
            </a:r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5B03A499-7B94-994A-BBBA-39C9A9B697F0}"/>
              </a:ext>
            </a:extLst>
          </p:cNvPr>
          <p:cNvSpPr/>
          <p:nvPr/>
        </p:nvSpPr>
        <p:spPr>
          <a:xfrm>
            <a:off x="417576" y="1202436"/>
            <a:ext cx="4782618" cy="1495929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266CA8"/>
                </a:solidFill>
                <a:latin typeface="Aptos"/>
              </a:rPr>
              <a:t>PROJECT IDEA</a:t>
            </a:r>
          </a:p>
          <a:p>
            <a:endParaRPr lang="en-US" sz="1400" b="1" dirty="0">
              <a:solidFill>
                <a:srgbClr val="266CA8"/>
              </a:solidFill>
              <a:latin typeface="Aptos"/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An urban decision-support system that combines heterogeneous city data to identify emerging problems, estimate their impact, and recommend suitable actions</a:t>
            </a:r>
            <a:endParaRPr lang="en-IN" sz="1400" dirty="0">
              <a:solidFill>
                <a:schemeClr val="tx1"/>
              </a:solidFill>
            </a:endParaRPr>
          </a:p>
          <a:p>
            <a:endParaRPr dirty="0"/>
          </a:p>
        </p:txBody>
      </p:sp>
      <p:sp>
        <p:nvSpPr>
          <p:cNvPr id="22" name="Rounded Rectangle 13">
            <a:extLst>
              <a:ext uri="{FF2B5EF4-FFF2-40B4-BE49-F238E27FC236}">
                <a16:creationId xmlns:a16="http://schemas.microsoft.com/office/drawing/2014/main" id="{23B42E57-DA9E-97D0-7F9D-C89B2FA4A6F7}"/>
              </a:ext>
            </a:extLst>
          </p:cNvPr>
          <p:cNvSpPr/>
          <p:nvPr/>
        </p:nvSpPr>
        <p:spPr>
          <a:xfrm>
            <a:off x="5745986" y="1230409"/>
            <a:ext cx="4832772" cy="300533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29F67B-594A-4BB2-AC15-934E37509918}"/>
              </a:ext>
            </a:extLst>
          </p:cNvPr>
          <p:cNvSpPr txBox="1"/>
          <p:nvPr/>
        </p:nvSpPr>
        <p:spPr>
          <a:xfrm>
            <a:off x="5940624" y="1369602"/>
            <a:ext cx="458114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266CA8"/>
                </a:solidFill>
                <a:latin typeface="Aptos"/>
              </a:rPr>
              <a:t>SIGNIFICANCE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B32B0F-0D4A-2F83-86A3-BCBE0A72CA58}"/>
              </a:ext>
            </a:extLst>
          </p:cNvPr>
          <p:cNvSpPr txBox="1"/>
          <p:nvPr/>
        </p:nvSpPr>
        <p:spPr>
          <a:xfrm>
            <a:off x="5830523" y="1729191"/>
            <a:ext cx="4581144" cy="2369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Weather Prediction:</a:t>
            </a:r>
            <a:r>
              <a:rPr lang="en-IN" sz="1400" dirty="0"/>
              <a:t> Anticipates upcoming weather conditions and potential risks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4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Air-Quality Intelligence:</a:t>
            </a:r>
            <a:r>
              <a:rPr lang="en-IN" sz="1400" dirty="0"/>
              <a:t> Identifies pollution levels and environmental risk patterns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4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Data-Driven Planning:</a:t>
            </a:r>
            <a:r>
              <a:rPr lang="en-IN" sz="1400" dirty="0"/>
              <a:t> Converts environmental data into understandable predictions and risk categories</a:t>
            </a:r>
          </a:p>
          <a:p>
            <a:pPr lvl="0"/>
            <a:r>
              <a:rPr lang="en-IN" sz="1400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Sustainable Cities:</a:t>
            </a:r>
            <a:r>
              <a:rPr lang="en-IN" sz="1400" dirty="0"/>
              <a:t> Supports better environmental awareness, preparedness and urban planning. </a:t>
            </a:r>
          </a:p>
        </p:txBody>
      </p:sp>
      <p:sp>
        <p:nvSpPr>
          <p:cNvPr id="29" name="Rounded Rectangle 20">
            <a:extLst>
              <a:ext uri="{FF2B5EF4-FFF2-40B4-BE49-F238E27FC236}">
                <a16:creationId xmlns:a16="http://schemas.microsoft.com/office/drawing/2014/main" id="{78A9904E-D44C-5B4F-70D6-4B8F6437CF04}"/>
              </a:ext>
            </a:extLst>
          </p:cNvPr>
          <p:cNvSpPr/>
          <p:nvPr/>
        </p:nvSpPr>
        <p:spPr>
          <a:xfrm>
            <a:off x="5819242" y="4315083"/>
            <a:ext cx="4389120" cy="713232"/>
          </a:xfrm>
          <a:prstGeom prst="roundRect">
            <a:avLst/>
          </a:prstGeom>
          <a:solidFill>
            <a:srgbClr val="E1EEF8"/>
          </a:solidFill>
          <a:ln w="12700">
            <a:solidFill>
              <a:srgbClr val="26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D42008-15FC-4B91-6D5E-ACF46B64E811}"/>
              </a:ext>
            </a:extLst>
          </p:cNvPr>
          <p:cNvSpPr txBox="1"/>
          <p:nvPr/>
        </p:nvSpPr>
        <p:spPr>
          <a:xfrm>
            <a:off x="5940624" y="4517727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dirty="0">
                <a:solidFill>
                  <a:srgbClr val="103156"/>
                </a:solidFill>
                <a:latin typeface="Aptos"/>
              </a:rPr>
              <a:t>DATA  →  INSIGHT  →  DECISION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4A9CF5-AC0C-08D8-6DCE-F407B9408CC3}"/>
              </a:ext>
            </a:extLst>
          </p:cNvPr>
          <p:cNvSpPr txBox="1"/>
          <p:nvPr/>
        </p:nvSpPr>
        <p:spPr>
          <a:xfrm>
            <a:off x="467458" y="3056895"/>
            <a:ext cx="4732735" cy="181588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266CA8"/>
                </a:solidFill>
                <a:latin typeface="Aptos"/>
              </a:rPr>
              <a:t>BACKGROUND</a:t>
            </a:r>
          </a:p>
          <a:p>
            <a:pPr lvl="0"/>
            <a:endParaRPr lang="en-IN" sz="14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dirty="0"/>
              <a:t>Rapid urbanization has increased the need for </a:t>
            </a:r>
            <a:r>
              <a:rPr lang="en-IN" sz="1400" b="1" dirty="0"/>
              <a:t>continuous monitoring of environmental conditions</a:t>
            </a:r>
            <a:r>
              <a:rPr lang="en-IN" sz="1400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dirty="0"/>
              <a:t>Weather conditions such as </a:t>
            </a:r>
            <a:r>
              <a:rPr lang="en-IN" sz="1400" b="1" dirty="0"/>
              <a:t>temperature, humidity, rainfall and wind</a:t>
            </a:r>
            <a:r>
              <a:rPr lang="en-IN" sz="1400" dirty="0"/>
              <a:t> directly influence air pollution levels.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400" dirty="0"/>
          </a:p>
          <a:p>
            <a:endParaRPr lang="en-IN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3BA8BD-DEB3-2FBC-CFF4-E1869245BC4D}"/>
              </a:ext>
            </a:extLst>
          </p:cNvPr>
          <p:cNvSpPr txBox="1"/>
          <p:nvPr/>
        </p:nvSpPr>
        <p:spPr>
          <a:xfrm>
            <a:off x="467458" y="5087403"/>
            <a:ext cx="4753766" cy="123110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266CA8"/>
                </a:solidFill>
                <a:latin typeface="Aptos"/>
              </a:rPr>
              <a:t>Current Implementation</a:t>
            </a:r>
          </a:p>
          <a:p>
            <a:endParaRPr lang="en-IN" b="1" dirty="0"/>
          </a:p>
          <a:p>
            <a:r>
              <a:rPr lang="en-US" sz="1400" dirty="0"/>
              <a:t>Weather-based prediction and air quality risk </a:t>
            </a:r>
          </a:p>
          <a:p>
            <a:r>
              <a:rPr lang="en-US" sz="1400" dirty="0"/>
              <a:t>assessment have been implemented </a:t>
            </a:r>
          </a:p>
          <a:p>
            <a:r>
              <a:rPr lang="en-US" sz="1400" dirty="0"/>
              <a:t>as the first component</a:t>
            </a:r>
            <a:endParaRPr lang="en-IN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EB84023-D7C8-DE68-D1A7-AA59EFA2DA1E}"/>
              </a:ext>
            </a:extLst>
          </p:cNvPr>
          <p:cNvSpPr txBox="1"/>
          <p:nvPr/>
        </p:nvSpPr>
        <p:spPr>
          <a:xfrm>
            <a:off x="640080" y="686913"/>
            <a:ext cx="1078992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dirty="0">
                <a:solidFill>
                  <a:srgbClr val="103156"/>
                </a:solidFill>
                <a:latin typeface="Aptos"/>
              </a:rPr>
              <a:t>Problem </a:t>
            </a:r>
            <a:r>
              <a:rPr lang="en-IN" sz="2600" b="1" dirty="0">
                <a:solidFill>
                  <a:srgbClr val="103156"/>
                </a:solidFill>
                <a:latin typeface="Aptos"/>
              </a:rPr>
              <a:t>Statement</a:t>
            </a:r>
            <a:r>
              <a:rPr sz="2600" b="1" dirty="0">
                <a:solidFill>
                  <a:srgbClr val="103156"/>
                </a:solidFill>
                <a:latin typeface="Aptos"/>
              </a:rPr>
              <a:t> &amp; Objectives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1DC4C9-6FE3-4FF3-4017-94DE40CAF2EA}"/>
              </a:ext>
            </a:extLst>
          </p:cNvPr>
          <p:cNvSpPr txBox="1"/>
          <p:nvPr/>
        </p:nvSpPr>
        <p:spPr>
          <a:xfrm>
            <a:off x="640080" y="38404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dirty="0">
                <a:solidFill>
                  <a:srgbClr val="266CA8"/>
                </a:solidFill>
                <a:latin typeface="Aptos"/>
              </a:rPr>
              <a:t>PROBLEM DEFINITION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9BFB44-2C7B-4AC2-F62B-75BA3895ABAB}"/>
              </a:ext>
            </a:extLst>
          </p:cNvPr>
          <p:cNvSpPr txBox="1"/>
          <p:nvPr/>
        </p:nvSpPr>
        <p:spPr>
          <a:xfrm>
            <a:off x="501445" y="1370518"/>
            <a:ext cx="9418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266CA8"/>
                </a:solidFill>
                <a:latin typeface="Aptos"/>
              </a:rPr>
              <a:t>PROBLEM</a:t>
            </a:r>
          </a:p>
          <a:p>
            <a:r>
              <a:rPr lang="en-US" b="1" dirty="0">
                <a:solidFill>
                  <a:srgbClr val="24303D"/>
                </a:solidFill>
                <a:latin typeface="Aptos"/>
              </a:rPr>
              <a:t>Urban information is fragmented across multiple datasets, making it difficult to obtain a unified view of emerging city problems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0CF318-3002-E280-8754-CE059D17ACC9}"/>
              </a:ext>
            </a:extLst>
          </p:cNvPr>
          <p:cNvSpPr txBox="1"/>
          <p:nvPr/>
        </p:nvSpPr>
        <p:spPr>
          <a:xfrm>
            <a:off x="4286865" y="3755923"/>
            <a:ext cx="2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`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2853FA-DC10-D5D1-B4FD-64764FAC4583}"/>
              </a:ext>
            </a:extLst>
          </p:cNvPr>
          <p:cNvSpPr txBox="1"/>
          <p:nvPr/>
        </p:nvSpPr>
        <p:spPr>
          <a:xfrm>
            <a:off x="452751" y="2443420"/>
            <a:ext cx="5024284" cy="369331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266CA8"/>
                </a:solidFill>
                <a:latin typeface="Aptos"/>
              </a:rPr>
              <a:t>OBJECTIVE</a:t>
            </a:r>
          </a:p>
          <a:p>
            <a:endParaRPr lang="en-US" b="1" dirty="0">
              <a:solidFill>
                <a:srgbClr val="103156"/>
              </a:solidFill>
              <a:latin typeface="Aptos"/>
            </a:endParaRPr>
          </a:p>
          <a:p>
            <a:r>
              <a:rPr lang="en-US" b="1" dirty="0">
                <a:solidFill>
                  <a:srgbClr val="103156"/>
                </a:solidFill>
                <a:latin typeface="Aptos"/>
              </a:rPr>
              <a:t>Build a system that can: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103156"/>
                </a:solidFill>
                <a:latin typeface="Aptos"/>
              </a:rPr>
              <a:t>Process heterogeneous urban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103156"/>
                </a:solidFill>
                <a:latin typeface="Aptos"/>
              </a:rPr>
              <a:t>Identify emerging urban problems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103156"/>
                </a:solidFill>
                <a:latin typeface="Aptos"/>
              </a:rPr>
              <a:t>Predict potential impact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103156"/>
                </a:solidFill>
                <a:latin typeface="Aptos"/>
              </a:rPr>
              <a:t>Classify the level of risk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103156"/>
                </a:solidFill>
                <a:latin typeface="Aptos"/>
              </a:rPr>
              <a:t>Recommend actionable interventions</a:t>
            </a:r>
          </a:p>
          <a:p>
            <a:endParaRPr lang="en-US" b="1" dirty="0">
              <a:solidFill>
                <a:srgbClr val="103156"/>
              </a:solidFill>
              <a:latin typeface="Aptos"/>
            </a:endParaRPr>
          </a:p>
          <a:p>
            <a:endParaRPr lang="en-US" b="1" dirty="0">
              <a:solidFill>
                <a:srgbClr val="103156"/>
              </a:solidFill>
              <a:latin typeface="Aptos"/>
            </a:endParaRPr>
          </a:p>
          <a:p>
            <a:endParaRPr lang="en-US" b="1" dirty="0">
              <a:solidFill>
                <a:srgbClr val="103156"/>
              </a:solidFill>
              <a:latin typeface="Aptos"/>
            </a:endParaRPr>
          </a:p>
          <a:p>
            <a:endParaRPr lang="en-IN" b="1" dirty="0">
              <a:solidFill>
                <a:srgbClr val="266CA8"/>
              </a:solidFill>
              <a:latin typeface="Aptos"/>
            </a:endParaRPr>
          </a:p>
          <a:p>
            <a:endParaRPr lang="en-IN" dirty="0"/>
          </a:p>
        </p:txBody>
      </p:sp>
      <p:cxnSp>
        <p:nvCxnSpPr>
          <p:cNvPr id="32" name="Connector 31">
            <a:extLst>
              <a:ext uri="{FF2B5EF4-FFF2-40B4-BE49-F238E27FC236}">
                <a16:creationId xmlns:a16="http://schemas.microsoft.com/office/drawing/2014/main" id="{08D3F01A-EA30-C571-B56B-745B1A94F5AA}"/>
              </a:ext>
            </a:extLst>
          </p:cNvPr>
          <p:cNvCxnSpPr/>
          <p:nvPr/>
        </p:nvCxnSpPr>
        <p:spPr>
          <a:xfrm>
            <a:off x="1614925" y="5098518"/>
            <a:ext cx="2240280" cy="0"/>
          </a:xfrm>
          <a:prstGeom prst="line">
            <a:avLst/>
          </a:prstGeom>
          <a:ln w="19050">
            <a:solidFill>
              <a:srgbClr val="266C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44B9963-1866-4771-4096-8B0AA229805F}"/>
              </a:ext>
            </a:extLst>
          </p:cNvPr>
          <p:cNvSpPr txBox="1"/>
          <p:nvPr/>
        </p:nvSpPr>
        <p:spPr>
          <a:xfrm>
            <a:off x="1340604" y="5308831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66CA8"/>
                </a:solidFill>
                <a:latin typeface="Aptos"/>
              </a:rPr>
              <a:t>IDENTIFY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EE9A55-E5D1-F521-DC25-849873A76F34}"/>
              </a:ext>
            </a:extLst>
          </p:cNvPr>
          <p:cNvSpPr txBox="1"/>
          <p:nvPr/>
        </p:nvSpPr>
        <p:spPr>
          <a:xfrm>
            <a:off x="2300725" y="5308831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66CA8"/>
                </a:solidFill>
                <a:latin typeface="Aptos"/>
              </a:rPr>
              <a:t>PREDICT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7A4EBF-6151-5F05-A18B-B5CE64BA91CD}"/>
              </a:ext>
            </a:extLst>
          </p:cNvPr>
          <p:cNvSpPr txBox="1"/>
          <p:nvPr/>
        </p:nvSpPr>
        <p:spPr>
          <a:xfrm>
            <a:off x="3260845" y="5308831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66CA8"/>
                </a:solidFill>
                <a:latin typeface="Aptos"/>
              </a:rPr>
              <a:t>RECOMMEND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17C5B5-2D62-370D-9455-093DA7174403}"/>
              </a:ext>
            </a:extLst>
          </p:cNvPr>
          <p:cNvSpPr txBox="1"/>
          <p:nvPr/>
        </p:nvSpPr>
        <p:spPr>
          <a:xfrm>
            <a:off x="6263129" y="3643391"/>
            <a:ext cx="4847303" cy="230832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266CA8"/>
                </a:solidFill>
                <a:latin typeface="Aptos"/>
              </a:rPr>
              <a:t>Key Requirements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24303D"/>
                </a:solidFill>
                <a:latin typeface="Aptos"/>
              </a:rPr>
              <a:t>Integrate heterogeneous urban datasets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4303D"/>
                </a:solidFill>
                <a:latin typeface="Aptos"/>
              </a:rPr>
              <a:t>Process traffic, air quality, weather and incidents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24303D"/>
                </a:solidFill>
                <a:latin typeface="Aptos"/>
              </a:rPr>
              <a:t>Detect emerging problems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24303D"/>
                </a:solidFill>
                <a:latin typeface="Aptos"/>
              </a:rPr>
              <a:t>Predict potential impact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24303D"/>
                </a:solidFill>
                <a:latin typeface="Aptos"/>
              </a:rPr>
              <a:t>Produce interpretable 0–100 risk scores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24303D"/>
                </a:solidFill>
                <a:latin typeface="Aptos"/>
              </a:rPr>
              <a:t>Recommend actionable interventions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73BC64-413A-9CFC-3E69-DB4E1BF964E8}"/>
              </a:ext>
            </a:extLst>
          </p:cNvPr>
          <p:cNvSpPr txBox="1"/>
          <p:nvPr/>
        </p:nvSpPr>
        <p:spPr>
          <a:xfrm>
            <a:off x="6263129" y="2304921"/>
            <a:ext cx="4389120" cy="101566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b="1" dirty="0">
                <a:solidFill>
                  <a:srgbClr val="266CA8"/>
                </a:solidFill>
                <a:latin typeface="Aptos"/>
              </a:rPr>
              <a:t>Key Challenges</a:t>
            </a:r>
          </a:p>
          <a:p>
            <a:pPr algn="l"/>
            <a:endParaRPr lang="en-IN" sz="1600" b="1" dirty="0">
              <a:solidFill>
                <a:srgbClr val="24303D"/>
              </a:solidFill>
              <a:latin typeface="Aptos"/>
            </a:endParaRPr>
          </a:p>
          <a:p>
            <a:pPr algn="l"/>
            <a:r>
              <a:rPr sz="1600" b="1" dirty="0">
                <a:solidFill>
                  <a:srgbClr val="24303D"/>
                </a:solidFill>
                <a:latin typeface="Aptos"/>
              </a:rPr>
              <a:t>Different datasets have different formats, features and prediction targets.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6E6ED7-79F5-D6B7-7581-C2D9B6E02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F658E6-956C-5ADC-2A5F-C43422CF0A5C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3156"/>
          </a:solidFill>
          <a:ln w="12700">
            <a:solidFill>
              <a:srgbClr val="103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5D2BF4-C5DE-57D0-5806-24C3BCD23263}"/>
              </a:ext>
            </a:extLst>
          </p:cNvPr>
          <p:cNvSpPr txBox="1"/>
          <p:nvPr/>
        </p:nvSpPr>
        <p:spPr>
          <a:xfrm>
            <a:off x="640080" y="38404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66CA8"/>
                </a:solidFill>
                <a:latin typeface="Aptos"/>
              </a:rPr>
              <a:t>DATA &amp; MACHINE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5995C3-A228-E409-00FA-C47C55DEE772}"/>
              </a:ext>
            </a:extLst>
          </p:cNvPr>
          <p:cNvSpPr txBox="1"/>
          <p:nvPr/>
        </p:nvSpPr>
        <p:spPr>
          <a:xfrm>
            <a:off x="640080" y="92384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dirty="0">
                <a:solidFill>
                  <a:srgbClr val="103156"/>
                </a:solidFill>
                <a:latin typeface="Aptos"/>
              </a:rPr>
              <a:t>Urban Data &amp; Domain Models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9195BA53-AAD8-9F9C-72A7-6ACCE2D3F76C}"/>
              </a:ext>
            </a:extLst>
          </p:cNvPr>
          <p:cNvCxnSpPr/>
          <p:nvPr/>
        </p:nvCxnSpPr>
        <p:spPr>
          <a:xfrm>
            <a:off x="640080" y="1527344"/>
            <a:ext cx="10908792" cy="0"/>
          </a:xfrm>
          <a:prstGeom prst="line">
            <a:avLst/>
          </a:prstGeom>
          <a:ln w="12700">
            <a:solidFill>
              <a:srgbClr val="BECD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253FC03-D1C6-1DE4-7F18-4B4E53867714}"/>
              </a:ext>
            </a:extLst>
          </p:cNvPr>
          <p:cNvSpPr/>
          <p:nvPr/>
        </p:nvSpPr>
        <p:spPr>
          <a:xfrm>
            <a:off x="640080" y="6510528"/>
            <a:ext cx="10908792" cy="18288"/>
          </a:xfrm>
          <a:prstGeom prst="rect">
            <a:avLst/>
          </a:prstGeom>
          <a:solidFill>
            <a:srgbClr val="BECDDA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2543F2-D79B-66F1-0A60-DB39C1AE4DC8}"/>
              </a:ext>
            </a:extLst>
          </p:cNvPr>
          <p:cNvSpPr txBox="1"/>
          <p:nvPr/>
        </p:nvSpPr>
        <p:spPr>
          <a:xfrm>
            <a:off x="11082528" y="6556248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103156"/>
                </a:solidFill>
                <a:latin typeface="Aptos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889BE1-1AFB-5128-DBA1-65DBAD11E89F}"/>
              </a:ext>
            </a:extLst>
          </p:cNvPr>
          <p:cNvSpPr/>
          <p:nvPr/>
        </p:nvSpPr>
        <p:spPr>
          <a:xfrm>
            <a:off x="685800" y="2001257"/>
            <a:ext cx="1874519" cy="438912"/>
          </a:xfrm>
          <a:prstGeom prst="rect">
            <a:avLst/>
          </a:prstGeom>
          <a:solidFill>
            <a:srgbClr val="103156"/>
          </a:solidFill>
          <a:ln w="12700">
            <a:solidFill>
              <a:srgbClr val="103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59A0BD-81D1-4458-DA6F-80395A9729D3}"/>
              </a:ext>
            </a:extLst>
          </p:cNvPr>
          <p:cNvSpPr txBox="1"/>
          <p:nvPr/>
        </p:nvSpPr>
        <p:spPr>
          <a:xfrm>
            <a:off x="795528" y="2101841"/>
            <a:ext cx="1655063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Dataset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25C6B3-F299-6AE7-5DD6-7F8BDAF1BC1D}"/>
              </a:ext>
            </a:extLst>
          </p:cNvPr>
          <p:cNvSpPr/>
          <p:nvPr/>
        </p:nvSpPr>
        <p:spPr>
          <a:xfrm>
            <a:off x="2606040" y="2001257"/>
            <a:ext cx="3703320" cy="438912"/>
          </a:xfrm>
          <a:prstGeom prst="rect">
            <a:avLst/>
          </a:prstGeom>
          <a:solidFill>
            <a:srgbClr val="103156"/>
          </a:solidFill>
          <a:ln w="12700">
            <a:solidFill>
              <a:srgbClr val="103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446B41-28DE-A3EC-366A-11244559E2F2}"/>
              </a:ext>
            </a:extLst>
          </p:cNvPr>
          <p:cNvSpPr txBox="1"/>
          <p:nvPr/>
        </p:nvSpPr>
        <p:spPr>
          <a:xfrm>
            <a:off x="2715768" y="2101841"/>
            <a:ext cx="3483863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Example Features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76662B-EF62-77B5-A2D3-5ED228598EE2}"/>
              </a:ext>
            </a:extLst>
          </p:cNvPr>
          <p:cNvSpPr/>
          <p:nvPr/>
        </p:nvSpPr>
        <p:spPr>
          <a:xfrm>
            <a:off x="6382512" y="2001257"/>
            <a:ext cx="2148840" cy="438912"/>
          </a:xfrm>
          <a:prstGeom prst="rect">
            <a:avLst/>
          </a:prstGeom>
          <a:solidFill>
            <a:srgbClr val="103156"/>
          </a:solidFill>
          <a:ln w="12700">
            <a:solidFill>
              <a:srgbClr val="103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3DF22C-77D8-3353-D875-B7B24B09470C}"/>
              </a:ext>
            </a:extLst>
          </p:cNvPr>
          <p:cNvSpPr txBox="1"/>
          <p:nvPr/>
        </p:nvSpPr>
        <p:spPr>
          <a:xfrm>
            <a:off x="6492240" y="2101841"/>
            <a:ext cx="192938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dirty="0">
                <a:solidFill>
                  <a:srgbClr val="FFFFFF"/>
                </a:solidFill>
                <a:latin typeface="Aptos"/>
              </a:rPr>
              <a:t>ML Output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1FBEC5-D22E-EB67-4435-D5F2AF88C4F6}"/>
              </a:ext>
            </a:extLst>
          </p:cNvPr>
          <p:cNvSpPr/>
          <p:nvPr/>
        </p:nvSpPr>
        <p:spPr>
          <a:xfrm>
            <a:off x="8613648" y="2001257"/>
            <a:ext cx="2880360" cy="438912"/>
          </a:xfrm>
          <a:prstGeom prst="rect">
            <a:avLst/>
          </a:prstGeom>
          <a:solidFill>
            <a:srgbClr val="103156"/>
          </a:solidFill>
          <a:ln w="12700">
            <a:solidFill>
              <a:srgbClr val="103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970334-B10A-7837-0202-7DEC7869F1E0}"/>
              </a:ext>
            </a:extLst>
          </p:cNvPr>
          <p:cNvSpPr txBox="1"/>
          <p:nvPr/>
        </p:nvSpPr>
        <p:spPr>
          <a:xfrm>
            <a:off x="8723376" y="2108642"/>
            <a:ext cx="2660904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1100" b="1" dirty="0">
                <a:solidFill>
                  <a:srgbClr val="FFFFFF"/>
                </a:solidFill>
                <a:latin typeface="Aptos"/>
              </a:rPr>
              <a:t>Machine Learning - Approach</a:t>
            </a:r>
            <a:endParaRPr sz="11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46A4F3-2312-FB5C-FAEE-63D148D79A46}"/>
              </a:ext>
            </a:extLst>
          </p:cNvPr>
          <p:cNvSpPr/>
          <p:nvPr/>
        </p:nvSpPr>
        <p:spPr>
          <a:xfrm>
            <a:off x="685800" y="2440168"/>
            <a:ext cx="1874519" cy="640080"/>
          </a:xfrm>
          <a:prstGeom prst="rect">
            <a:avLst/>
          </a:prstGeom>
          <a:solidFill>
            <a:srgbClr val="F3F7FA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826876-B79E-A852-20DE-23B29DDCF99F}"/>
              </a:ext>
            </a:extLst>
          </p:cNvPr>
          <p:cNvSpPr txBox="1"/>
          <p:nvPr/>
        </p:nvSpPr>
        <p:spPr>
          <a:xfrm>
            <a:off x="795528" y="2549897"/>
            <a:ext cx="1655063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4303D"/>
                </a:solidFill>
                <a:latin typeface="Aptos"/>
              </a:rPr>
              <a:t>Air Quality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DB4326-F4B7-E4F3-A64C-463AC3738272}"/>
              </a:ext>
            </a:extLst>
          </p:cNvPr>
          <p:cNvSpPr/>
          <p:nvPr/>
        </p:nvSpPr>
        <p:spPr>
          <a:xfrm>
            <a:off x="2606040" y="2440168"/>
            <a:ext cx="3703320" cy="640080"/>
          </a:xfrm>
          <a:prstGeom prst="rect">
            <a:avLst/>
          </a:prstGeom>
          <a:solidFill>
            <a:srgbClr val="F3F7FA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027350-0A51-E201-DA44-8B72FD7E6822}"/>
              </a:ext>
            </a:extLst>
          </p:cNvPr>
          <p:cNvSpPr txBox="1"/>
          <p:nvPr/>
        </p:nvSpPr>
        <p:spPr>
          <a:xfrm>
            <a:off x="2715768" y="2581788"/>
            <a:ext cx="3483863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1100" b="1" dirty="0">
                <a:solidFill>
                  <a:srgbClr val="24303D"/>
                </a:solidFill>
                <a:latin typeface="Aptos"/>
              </a:rPr>
              <a:t>Pollution-related information</a:t>
            </a:r>
          </a:p>
          <a:p>
            <a:pPr algn="l"/>
            <a:r>
              <a:rPr lang="en-IN" sz="1100" b="1" dirty="0">
                <a:solidFill>
                  <a:srgbClr val="24303D"/>
                </a:solidFill>
                <a:latin typeface="Aptos"/>
              </a:rPr>
              <a:t>Ex. </a:t>
            </a:r>
            <a:r>
              <a:rPr sz="1100" b="1" dirty="0">
                <a:solidFill>
                  <a:srgbClr val="24303D"/>
                </a:solidFill>
                <a:latin typeface="Aptos"/>
              </a:rPr>
              <a:t>PM2.5, PM10, NO2, SO2, CO, O3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1F9792-81D5-2B5A-0C06-D2A7D4D1A6B3}"/>
              </a:ext>
            </a:extLst>
          </p:cNvPr>
          <p:cNvSpPr/>
          <p:nvPr/>
        </p:nvSpPr>
        <p:spPr>
          <a:xfrm>
            <a:off x="6382512" y="2440168"/>
            <a:ext cx="2148840" cy="640080"/>
          </a:xfrm>
          <a:prstGeom prst="rect">
            <a:avLst/>
          </a:prstGeom>
          <a:solidFill>
            <a:srgbClr val="F3F7FA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2CF68D-566C-41B4-16A6-A9D4A5223D51}"/>
              </a:ext>
            </a:extLst>
          </p:cNvPr>
          <p:cNvSpPr txBox="1"/>
          <p:nvPr/>
        </p:nvSpPr>
        <p:spPr>
          <a:xfrm>
            <a:off x="6492240" y="2549897"/>
            <a:ext cx="192938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4303D"/>
                </a:solidFill>
                <a:latin typeface="Aptos"/>
              </a:rPr>
              <a:t>Air Quality Risk: 0–100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D75592-3DEE-DC48-8E9A-D331519F02C9}"/>
              </a:ext>
            </a:extLst>
          </p:cNvPr>
          <p:cNvSpPr/>
          <p:nvPr/>
        </p:nvSpPr>
        <p:spPr>
          <a:xfrm>
            <a:off x="8613648" y="2440168"/>
            <a:ext cx="2880360" cy="640080"/>
          </a:xfrm>
          <a:prstGeom prst="rect">
            <a:avLst/>
          </a:prstGeom>
          <a:solidFill>
            <a:srgbClr val="F3F7FA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0BC93D-5FE2-9C1F-9B04-768AB2A9E4B4}"/>
              </a:ext>
            </a:extLst>
          </p:cNvPr>
          <p:cNvSpPr txBox="1"/>
          <p:nvPr/>
        </p:nvSpPr>
        <p:spPr>
          <a:xfrm>
            <a:off x="8723376" y="2666426"/>
            <a:ext cx="2660904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1100" b="1" dirty="0" err="1">
                <a:solidFill>
                  <a:srgbClr val="24303D"/>
                </a:solidFill>
                <a:latin typeface="Aptos"/>
              </a:rPr>
              <a:t>XGBoost</a:t>
            </a:r>
            <a:endParaRPr sz="1100" b="1" dirty="0">
              <a:solidFill>
                <a:srgbClr val="24303D"/>
              </a:solidFill>
              <a:latin typeface="Apto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158861-4A89-4842-A735-1ED903D4AE37}"/>
              </a:ext>
            </a:extLst>
          </p:cNvPr>
          <p:cNvSpPr/>
          <p:nvPr/>
        </p:nvSpPr>
        <p:spPr>
          <a:xfrm>
            <a:off x="685800" y="3080249"/>
            <a:ext cx="1874519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42648B-FF8F-58CB-14F8-52707C2EE459}"/>
              </a:ext>
            </a:extLst>
          </p:cNvPr>
          <p:cNvSpPr txBox="1"/>
          <p:nvPr/>
        </p:nvSpPr>
        <p:spPr>
          <a:xfrm>
            <a:off x="795528" y="3189977"/>
            <a:ext cx="1655063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4303D"/>
                </a:solidFill>
                <a:latin typeface="Aptos"/>
              </a:rPr>
              <a:t>Weather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F132C8-D3B7-441A-08B2-0A512BF6F819}"/>
              </a:ext>
            </a:extLst>
          </p:cNvPr>
          <p:cNvSpPr/>
          <p:nvPr/>
        </p:nvSpPr>
        <p:spPr>
          <a:xfrm>
            <a:off x="2606040" y="3080249"/>
            <a:ext cx="3703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3DBDBF-DA2D-1E77-1B0D-91707EC0A87B}"/>
              </a:ext>
            </a:extLst>
          </p:cNvPr>
          <p:cNvSpPr txBox="1"/>
          <p:nvPr/>
        </p:nvSpPr>
        <p:spPr>
          <a:xfrm>
            <a:off x="2715768" y="3306506"/>
            <a:ext cx="3483863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dirty="0">
                <a:solidFill>
                  <a:srgbClr val="24303D"/>
                </a:solidFill>
                <a:latin typeface="Aptos"/>
              </a:rPr>
              <a:t>Temperature, rainfall, humidity, wind</a:t>
            </a:r>
            <a:r>
              <a:rPr lang="en-IN" sz="1100" b="0" dirty="0">
                <a:solidFill>
                  <a:srgbClr val="24303D"/>
                </a:solidFill>
                <a:latin typeface="Aptos"/>
              </a:rPr>
              <a:t>, solar radiation</a:t>
            </a:r>
            <a:endParaRPr sz="1100" b="0" dirty="0">
              <a:solidFill>
                <a:srgbClr val="24303D"/>
              </a:solidFill>
              <a:latin typeface="Apto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B4CD72-58CF-2472-8C93-AAFEF9888AF1}"/>
              </a:ext>
            </a:extLst>
          </p:cNvPr>
          <p:cNvSpPr/>
          <p:nvPr/>
        </p:nvSpPr>
        <p:spPr>
          <a:xfrm>
            <a:off x="6382512" y="3080249"/>
            <a:ext cx="2148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DE3D37-4D1F-5E2F-9255-74DB42C9B281}"/>
              </a:ext>
            </a:extLst>
          </p:cNvPr>
          <p:cNvSpPr txBox="1"/>
          <p:nvPr/>
        </p:nvSpPr>
        <p:spPr>
          <a:xfrm>
            <a:off x="6492240" y="3189977"/>
            <a:ext cx="192938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4303D"/>
                </a:solidFill>
                <a:latin typeface="Aptos"/>
              </a:rPr>
              <a:t>Weather Risk: 0–100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230E85-E1D4-130D-24C6-C2C32E2FB58C}"/>
              </a:ext>
            </a:extLst>
          </p:cNvPr>
          <p:cNvSpPr/>
          <p:nvPr/>
        </p:nvSpPr>
        <p:spPr>
          <a:xfrm>
            <a:off x="8613648" y="3080249"/>
            <a:ext cx="2880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7243EE-974D-166E-7BC5-551BB80ACFE0}"/>
              </a:ext>
            </a:extLst>
          </p:cNvPr>
          <p:cNvSpPr txBox="1"/>
          <p:nvPr/>
        </p:nvSpPr>
        <p:spPr>
          <a:xfrm>
            <a:off x="8723376" y="3306506"/>
            <a:ext cx="2660904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1100" b="1" dirty="0">
                <a:solidFill>
                  <a:srgbClr val="24303D"/>
                </a:solidFill>
                <a:latin typeface="Aptos"/>
              </a:rPr>
              <a:t>Random Forest</a:t>
            </a:r>
            <a:endParaRPr sz="1100" b="1" dirty="0">
              <a:solidFill>
                <a:srgbClr val="24303D"/>
              </a:solidFill>
              <a:latin typeface="Apto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F4D9B5E-7D7A-1608-4768-9DA1FA649E5F}"/>
              </a:ext>
            </a:extLst>
          </p:cNvPr>
          <p:cNvSpPr/>
          <p:nvPr/>
        </p:nvSpPr>
        <p:spPr>
          <a:xfrm>
            <a:off x="685800" y="3720328"/>
            <a:ext cx="1874519" cy="640080"/>
          </a:xfrm>
          <a:prstGeom prst="rect">
            <a:avLst/>
          </a:prstGeom>
          <a:solidFill>
            <a:srgbClr val="F3F7FA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E2C6E2-3399-7985-FF02-D5EF8C33DA91}"/>
              </a:ext>
            </a:extLst>
          </p:cNvPr>
          <p:cNvSpPr txBox="1"/>
          <p:nvPr/>
        </p:nvSpPr>
        <p:spPr>
          <a:xfrm>
            <a:off x="795528" y="3830057"/>
            <a:ext cx="1655063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4303D"/>
                </a:solidFill>
                <a:latin typeface="Aptos"/>
              </a:rPr>
              <a:t>Traffic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9951A2B-EEC1-C01F-3CC5-3D33B20411B3}"/>
              </a:ext>
            </a:extLst>
          </p:cNvPr>
          <p:cNvSpPr/>
          <p:nvPr/>
        </p:nvSpPr>
        <p:spPr>
          <a:xfrm>
            <a:off x="2606040" y="3720328"/>
            <a:ext cx="3703320" cy="640080"/>
          </a:xfrm>
          <a:prstGeom prst="rect">
            <a:avLst/>
          </a:prstGeom>
          <a:solidFill>
            <a:srgbClr val="F3F7FA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8965BD-7806-05AE-EE65-D17BA9A591B2}"/>
              </a:ext>
            </a:extLst>
          </p:cNvPr>
          <p:cNvSpPr txBox="1"/>
          <p:nvPr/>
        </p:nvSpPr>
        <p:spPr>
          <a:xfrm>
            <a:off x="2715768" y="3830057"/>
            <a:ext cx="3483863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4303D"/>
                </a:solidFill>
                <a:latin typeface="Aptos"/>
              </a:rPr>
              <a:t>Traffic volume, speed, congestion, delay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740131E-42FB-3DD0-9AE9-E34514E89062}"/>
              </a:ext>
            </a:extLst>
          </p:cNvPr>
          <p:cNvSpPr/>
          <p:nvPr/>
        </p:nvSpPr>
        <p:spPr>
          <a:xfrm>
            <a:off x="6382512" y="3720328"/>
            <a:ext cx="2148840" cy="640080"/>
          </a:xfrm>
          <a:prstGeom prst="rect">
            <a:avLst/>
          </a:prstGeom>
          <a:solidFill>
            <a:srgbClr val="F3F7FA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A09A88-C434-1D26-5E55-BBA13B24346D}"/>
              </a:ext>
            </a:extLst>
          </p:cNvPr>
          <p:cNvSpPr txBox="1"/>
          <p:nvPr/>
        </p:nvSpPr>
        <p:spPr>
          <a:xfrm>
            <a:off x="6492240" y="3830057"/>
            <a:ext cx="192938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4303D"/>
                </a:solidFill>
                <a:latin typeface="Aptos"/>
              </a:rPr>
              <a:t>Traffic Risk: 0–100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FF6D089-583D-8013-40D8-EDF6BCCDFD4B}"/>
              </a:ext>
            </a:extLst>
          </p:cNvPr>
          <p:cNvSpPr/>
          <p:nvPr/>
        </p:nvSpPr>
        <p:spPr>
          <a:xfrm>
            <a:off x="8613648" y="3720328"/>
            <a:ext cx="2880360" cy="640080"/>
          </a:xfrm>
          <a:prstGeom prst="rect">
            <a:avLst/>
          </a:prstGeom>
          <a:solidFill>
            <a:srgbClr val="F3F7FA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7E1B33-2C4D-11C6-7926-68B5320EB797}"/>
              </a:ext>
            </a:extLst>
          </p:cNvPr>
          <p:cNvSpPr txBox="1"/>
          <p:nvPr/>
        </p:nvSpPr>
        <p:spPr>
          <a:xfrm>
            <a:off x="322006" y="5220536"/>
            <a:ext cx="2393762" cy="8218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24303D"/>
                </a:solidFill>
                <a:latin typeface="Aptos"/>
              </a:rPr>
              <a:t>Domain-specific models are used because each dataset </a:t>
            </a:r>
            <a:endParaRPr lang="en-IN" sz="1300" b="1" dirty="0">
              <a:solidFill>
                <a:srgbClr val="24303D"/>
              </a:solidFill>
              <a:latin typeface="Aptos"/>
            </a:endParaRPr>
          </a:p>
          <a:p>
            <a:pPr algn="l"/>
            <a:r>
              <a:rPr sz="1300" b="1" dirty="0">
                <a:solidFill>
                  <a:srgbClr val="24303D"/>
                </a:solidFill>
                <a:latin typeface="Aptos"/>
              </a:rPr>
              <a:t>has different features and prediction targets.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73081EB-FCCC-29B5-FC82-BB3EEBEA0993}"/>
              </a:ext>
            </a:extLst>
          </p:cNvPr>
          <p:cNvSpPr txBox="1"/>
          <p:nvPr/>
        </p:nvSpPr>
        <p:spPr>
          <a:xfrm>
            <a:off x="8723376" y="3934298"/>
            <a:ext cx="2660904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1100" b="1" dirty="0">
                <a:solidFill>
                  <a:srgbClr val="24303D"/>
                </a:solidFill>
                <a:latin typeface="Aptos"/>
              </a:rPr>
              <a:t>Isolation Forest</a:t>
            </a:r>
            <a:endParaRPr sz="1100" b="1" dirty="0">
              <a:solidFill>
                <a:srgbClr val="24303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146974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0B55D-6A69-4F46-9692-690CC0FA4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65E051-27E0-919B-E04F-5727EDF64972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3156"/>
          </a:solidFill>
          <a:ln w="12700">
            <a:solidFill>
              <a:srgbClr val="103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82AD6-FB91-A37F-280C-57258DE04511}"/>
              </a:ext>
            </a:extLst>
          </p:cNvPr>
          <p:cNvSpPr txBox="1"/>
          <p:nvPr/>
        </p:nvSpPr>
        <p:spPr>
          <a:xfrm>
            <a:off x="640080" y="38404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66CA8"/>
                </a:solidFill>
                <a:latin typeface="Aptos"/>
              </a:rPr>
              <a:t>SYSTEM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0FA17-89CB-3396-5F1A-E97632F6BD25}"/>
              </a:ext>
            </a:extLst>
          </p:cNvPr>
          <p:cNvSpPr txBox="1"/>
          <p:nvPr/>
        </p:nvSpPr>
        <p:spPr>
          <a:xfrm>
            <a:off x="640080" y="776354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dirty="0">
                <a:solidFill>
                  <a:srgbClr val="103156"/>
                </a:solidFill>
                <a:latin typeface="Aptos"/>
              </a:rPr>
              <a:t>Methodology &amp; System Architecture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1F9B9757-9942-0295-E61A-DA89DED1DBF3}"/>
              </a:ext>
            </a:extLst>
          </p:cNvPr>
          <p:cNvCxnSpPr/>
          <p:nvPr/>
        </p:nvCxnSpPr>
        <p:spPr>
          <a:xfrm>
            <a:off x="640080" y="1379858"/>
            <a:ext cx="10908792" cy="0"/>
          </a:xfrm>
          <a:prstGeom prst="line">
            <a:avLst/>
          </a:prstGeom>
          <a:ln w="12700">
            <a:solidFill>
              <a:srgbClr val="BECD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A18490F-CB0B-6987-A583-F9C37FB4BCBF}"/>
              </a:ext>
            </a:extLst>
          </p:cNvPr>
          <p:cNvSpPr/>
          <p:nvPr/>
        </p:nvSpPr>
        <p:spPr>
          <a:xfrm>
            <a:off x="640080" y="6510528"/>
            <a:ext cx="10908792" cy="18288"/>
          </a:xfrm>
          <a:prstGeom prst="rect">
            <a:avLst/>
          </a:prstGeom>
          <a:solidFill>
            <a:srgbClr val="BECDDA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C15306-D710-7FFF-F6DD-89EDCAC51EB3}"/>
              </a:ext>
            </a:extLst>
          </p:cNvPr>
          <p:cNvSpPr txBox="1"/>
          <p:nvPr/>
        </p:nvSpPr>
        <p:spPr>
          <a:xfrm>
            <a:off x="11082528" y="6556248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103156"/>
                </a:solidFill>
                <a:latin typeface="Aptos"/>
              </a:rP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59242F-041F-5D7B-47A7-60724EBF63CD}"/>
              </a:ext>
            </a:extLst>
          </p:cNvPr>
          <p:cNvSpPr txBox="1"/>
          <p:nvPr/>
        </p:nvSpPr>
        <p:spPr>
          <a:xfrm>
            <a:off x="735699" y="1726640"/>
            <a:ext cx="21945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266CA8"/>
                </a:solidFill>
                <a:latin typeface="Aptos"/>
              </a:rPr>
              <a:t>URBAN DATA INPUTS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FE2C48E-12C7-8FBC-EF02-15020D4C65B5}"/>
              </a:ext>
            </a:extLst>
          </p:cNvPr>
          <p:cNvSpPr/>
          <p:nvPr/>
        </p:nvSpPr>
        <p:spPr>
          <a:xfrm>
            <a:off x="731520" y="2549404"/>
            <a:ext cx="1600200" cy="310896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7DFC-859A-31C7-D4DE-8D7D1DCBFC56}"/>
              </a:ext>
            </a:extLst>
          </p:cNvPr>
          <p:cNvSpPr txBox="1"/>
          <p:nvPr/>
        </p:nvSpPr>
        <p:spPr>
          <a:xfrm>
            <a:off x="822960" y="2613412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03156"/>
                </a:solidFill>
                <a:latin typeface="Aptos"/>
              </a:rPr>
              <a:t>Air Quality Data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1C1D8A2-1CBF-D03A-3289-A58246D47236}"/>
              </a:ext>
            </a:extLst>
          </p:cNvPr>
          <p:cNvSpPr/>
          <p:nvPr/>
        </p:nvSpPr>
        <p:spPr>
          <a:xfrm>
            <a:off x="731520" y="2988316"/>
            <a:ext cx="1600200" cy="310896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31DF5F-E507-B3D6-911A-3EE67CEF149A}"/>
              </a:ext>
            </a:extLst>
          </p:cNvPr>
          <p:cNvSpPr txBox="1"/>
          <p:nvPr/>
        </p:nvSpPr>
        <p:spPr>
          <a:xfrm>
            <a:off x="822960" y="3052324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03156"/>
                </a:solidFill>
                <a:latin typeface="Aptos"/>
              </a:rPr>
              <a:t>Weather Data</a:t>
            </a:r>
          </a:p>
        </p:txBody>
      </p: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5E77F139-9E17-D6A4-6331-A5ADAE8539E3}"/>
              </a:ext>
            </a:extLst>
          </p:cNvPr>
          <p:cNvCxnSpPr>
            <a:cxnSpLocks/>
          </p:cNvCxnSpPr>
          <p:nvPr/>
        </p:nvCxnSpPr>
        <p:spPr>
          <a:xfrm>
            <a:off x="1455597" y="3299212"/>
            <a:ext cx="0" cy="408680"/>
          </a:xfrm>
          <a:prstGeom prst="line">
            <a:avLst/>
          </a:prstGeom>
          <a:ln w="16510">
            <a:solidFill>
              <a:srgbClr val="266C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F576C60-15F4-0057-915E-73112F4C5E2B}"/>
              </a:ext>
            </a:extLst>
          </p:cNvPr>
          <p:cNvSpPr/>
          <p:nvPr/>
        </p:nvSpPr>
        <p:spPr>
          <a:xfrm>
            <a:off x="1874519" y="3588383"/>
            <a:ext cx="1097280" cy="475488"/>
          </a:xfrm>
          <a:prstGeom prst="roundRect">
            <a:avLst/>
          </a:prstGeom>
          <a:solidFill>
            <a:srgbClr val="103156"/>
          </a:solidFill>
          <a:ln w="12700">
            <a:solidFill>
              <a:srgbClr val="103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2CFA55-DF1E-E53E-5A82-1B7B3B310B5E}"/>
              </a:ext>
            </a:extLst>
          </p:cNvPr>
          <p:cNvSpPr txBox="1"/>
          <p:nvPr/>
        </p:nvSpPr>
        <p:spPr>
          <a:xfrm>
            <a:off x="1897379" y="372618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EXASOL</a:t>
            </a: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951163C2-25C7-239D-8C9B-B4BA94DE3FA4}"/>
              </a:ext>
            </a:extLst>
          </p:cNvPr>
          <p:cNvCxnSpPr>
            <a:cxnSpLocks/>
          </p:cNvCxnSpPr>
          <p:nvPr/>
        </p:nvCxnSpPr>
        <p:spPr>
          <a:xfrm>
            <a:off x="2971800" y="3739896"/>
            <a:ext cx="685800" cy="0"/>
          </a:xfrm>
          <a:prstGeom prst="line">
            <a:avLst/>
          </a:prstGeom>
          <a:ln w="19050">
            <a:solidFill>
              <a:srgbClr val="266C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A403D1C-69CB-218C-1F02-C7D65FD616F3}"/>
              </a:ext>
            </a:extLst>
          </p:cNvPr>
          <p:cNvSpPr/>
          <p:nvPr/>
        </p:nvSpPr>
        <p:spPr>
          <a:xfrm>
            <a:off x="3703320" y="3438144"/>
            <a:ext cx="2011680" cy="566928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26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924696-6613-AD7E-4EE0-A20677B78298}"/>
              </a:ext>
            </a:extLst>
          </p:cNvPr>
          <p:cNvSpPr txBox="1"/>
          <p:nvPr/>
        </p:nvSpPr>
        <p:spPr>
          <a:xfrm>
            <a:off x="3776472" y="3547872"/>
            <a:ext cx="186537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03156"/>
                </a:solidFill>
                <a:latin typeface="Aptos"/>
              </a:rPr>
              <a:t>Data Cleaning &amp;
Feature Engineering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EAEF211-749A-2D76-B5D9-03EBF5CEB0DC}"/>
              </a:ext>
            </a:extLst>
          </p:cNvPr>
          <p:cNvSpPr/>
          <p:nvPr/>
        </p:nvSpPr>
        <p:spPr>
          <a:xfrm>
            <a:off x="6263640" y="3438144"/>
            <a:ext cx="1508760" cy="566928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26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825536-AA3A-710A-0699-BD4581FB8BED}"/>
              </a:ext>
            </a:extLst>
          </p:cNvPr>
          <p:cNvSpPr txBox="1"/>
          <p:nvPr/>
        </p:nvSpPr>
        <p:spPr>
          <a:xfrm>
            <a:off x="6336792" y="3547872"/>
            <a:ext cx="136245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03156"/>
                </a:solidFill>
                <a:latin typeface="Aptos"/>
              </a:rPr>
              <a:t>Domain ML
Models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0D8EEEC-34F0-0921-17A4-292D1ABBBDC0}"/>
              </a:ext>
            </a:extLst>
          </p:cNvPr>
          <p:cNvSpPr/>
          <p:nvPr/>
        </p:nvSpPr>
        <p:spPr>
          <a:xfrm>
            <a:off x="8275320" y="3438144"/>
            <a:ext cx="1508760" cy="566928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26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961C05-C4F0-4BFC-4A3E-4559D6DE2D8B}"/>
              </a:ext>
            </a:extLst>
          </p:cNvPr>
          <p:cNvSpPr txBox="1"/>
          <p:nvPr/>
        </p:nvSpPr>
        <p:spPr>
          <a:xfrm>
            <a:off x="8348472" y="3547872"/>
            <a:ext cx="136245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03156"/>
                </a:solidFill>
                <a:latin typeface="Aptos"/>
              </a:rPr>
              <a:t>Risk Scoring
0–100</a:t>
            </a:r>
          </a:p>
        </p:txBody>
      </p: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2A869749-B1DD-2A14-6B12-E224EB74042D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5715000" y="3721608"/>
            <a:ext cx="548640" cy="0"/>
          </a:xfrm>
          <a:prstGeom prst="line">
            <a:avLst/>
          </a:prstGeom>
          <a:ln w="15240">
            <a:solidFill>
              <a:srgbClr val="266C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>
            <a:extLst>
              <a:ext uri="{FF2B5EF4-FFF2-40B4-BE49-F238E27FC236}">
                <a16:creationId xmlns:a16="http://schemas.microsoft.com/office/drawing/2014/main" id="{A3FF3A29-A38F-2088-BCB9-9DCDD879E107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>
            <a:off x="7772400" y="3721608"/>
            <a:ext cx="502920" cy="0"/>
          </a:xfrm>
          <a:prstGeom prst="line">
            <a:avLst/>
          </a:prstGeom>
          <a:ln w="15240">
            <a:solidFill>
              <a:srgbClr val="266C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1FA0D988-5DFC-E874-F100-08F2BD3620B5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9029700" y="4005072"/>
            <a:ext cx="4572" cy="868680"/>
          </a:xfrm>
          <a:prstGeom prst="line">
            <a:avLst/>
          </a:prstGeom>
          <a:ln w="17780">
            <a:solidFill>
              <a:srgbClr val="266C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8770A30-3097-0E12-E64E-52F01AA73E70}"/>
              </a:ext>
            </a:extLst>
          </p:cNvPr>
          <p:cNvSpPr/>
          <p:nvPr/>
        </p:nvSpPr>
        <p:spPr>
          <a:xfrm>
            <a:off x="4572000" y="4590288"/>
            <a:ext cx="1828800" cy="566928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26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4A483F-8D11-557C-0E25-21562E7BE8F3}"/>
              </a:ext>
            </a:extLst>
          </p:cNvPr>
          <p:cNvSpPr txBox="1"/>
          <p:nvPr/>
        </p:nvSpPr>
        <p:spPr>
          <a:xfrm>
            <a:off x="4645152" y="4700016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03156"/>
                </a:solidFill>
                <a:latin typeface="Aptos"/>
              </a:rPr>
              <a:t>Emerging Problem
Detection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4B2FEAA-8AA2-F943-6950-6CD489F41816}"/>
              </a:ext>
            </a:extLst>
          </p:cNvPr>
          <p:cNvSpPr/>
          <p:nvPr/>
        </p:nvSpPr>
        <p:spPr>
          <a:xfrm>
            <a:off x="7040880" y="4590288"/>
            <a:ext cx="1600200" cy="566928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26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4DB118-8A4D-407B-9561-7EEB7C3A9E7E}"/>
              </a:ext>
            </a:extLst>
          </p:cNvPr>
          <p:cNvSpPr txBox="1"/>
          <p:nvPr/>
        </p:nvSpPr>
        <p:spPr>
          <a:xfrm>
            <a:off x="7114032" y="4700016"/>
            <a:ext cx="145389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03156"/>
                </a:solidFill>
                <a:latin typeface="Aptos"/>
              </a:rPr>
              <a:t>Impact
Prediction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5F75ADA-020C-444D-8299-43A50DF0FAF5}"/>
              </a:ext>
            </a:extLst>
          </p:cNvPr>
          <p:cNvSpPr/>
          <p:nvPr/>
        </p:nvSpPr>
        <p:spPr>
          <a:xfrm>
            <a:off x="9144000" y="4590288"/>
            <a:ext cx="1600200" cy="566928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26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6D612B-67F1-8315-6D61-ED27CE0075DF}"/>
              </a:ext>
            </a:extLst>
          </p:cNvPr>
          <p:cNvSpPr txBox="1"/>
          <p:nvPr/>
        </p:nvSpPr>
        <p:spPr>
          <a:xfrm>
            <a:off x="9217152" y="4700016"/>
            <a:ext cx="145389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03156"/>
                </a:solidFill>
                <a:latin typeface="Aptos"/>
              </a:rPr>
              <a:t>AI
Recommendation</a:t>
            </a:r>
          </a:p>
        </p:txBody>
      </p:sp>
      <p:cxnSp>
        <p:nvCxnSpPr>
          <p:cNvPr id="36" name="Connector 35">
            <a:extLst>
              <a:ext uri="{FF2B5EF4-FFF2-40B4-BE49-F238E27FC236}">
                <a16:creationId xmlns:a16="http://schemas.microsoft.com/office/drawing/2014/main" id="{5F5C79EB-D3BD-4B4E-E672-4B6207217DF4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6400800" y="4873752"/>
            <a:ext cx="640080" cy="0"/>
          </a:xfrm>
          <a:prstGeom prst="line">
            <a:avLst/>
          </a:prstGeom>
          <a:ln w="15240">
            <a:solidFill>
              <a:srgbClr val="266C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>
            <a:extLst>
              <a:ext uri="{FF2B5EF4-FFF2-40B4-BE49-F238E27FC236}">
                <a16:creationId xmlns:a16="http://schemas.microsoft.com/office/drawing/2014/main" id="{2372A302-3683-E047-50C3-768969A46CB1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>
          <a:xfrm>
            <a:off x="8641080" y="4873752"/>
            <a:ext cx="502920" cy="0"/>
          </a:xfrm>
          <a:prstGeom prst="line">
            <a:avLst/>
          </a:prstGeom>
          <a:ln w="15240">
            <a:solidFill>
              <a:srgbClr val="266C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AB9D7D9C-CAD4-CAF6-5CFD-FAA2AC3CBA22}"/>
              </a:ext>
            </a:extLst>
          </p:cNvPr>
          <p:cNvCxnSpPr>
            <a:cxnSpLocks/>
            <a:endCxn id="39" idx="0"/>
          </p:cNvCxnSpPr>
          <p:nvPr/>
        </p:nvCxnSpPr>
        <p:spPr>
          <a:xfrm flipH="1">
            <a:off x="9944100" y="5175504"/>
            <a:ext cx="4572" cy="475488"/>
          </a:xfrm>
          <a:prstGeom prst="line">
            <a:avLst/>
          </a:prstGeom>
          <a:ln w="15240">
            <a:solidFill>
              <a:srgbClr val="266C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2542A78-6733-1901-AAB2-D94CC6B0E519}"/>
              </a:ext>
            </a:extLst>
          </p:cNvPr>
          <p:cNvSpPr/>
          <p:nvPr/>
        </p:nvSpPr>
        <p:spPr>
          <a:xfrm>
            <a:off x="9098280" y="5650992"/>
            <a:ext cx="1691640" cy="384048"/>
          </a:xfrm>
          <a:prstGeom prst="roundRect">
            <a:avLst/>
          </a:prstGeom>
          <a:solidFill>
            <a:srgbClr val="103156"/>
          </a:solidFill>
          <a:ln w="12700">
            <a:solidFill>
              <a:srgbClr val="103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0DA6F98-769D-80AD-479D-A4B11CCE0257}"/>
              </a:ext>
            </a:extLst>
          </p:cNvPr>
          <p:cNvSpPr txBox="1"/>
          <p:nvPr/>
        </p:nvSpPr>
        <p:spPr>
          <a:xfrm>
            <a:off x="9098280" y="5751576"/>
            <a:ext cx="16916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CITY ACTION</a:t>
            </a:r>
          </a:p>
        </p:txBody>
      </p:sp>
      <p:cxnSp>
        <p:nvCxnSpPr>
          <p:cNvPr id="50" name="Connector 27">
            <a:extLst>
              <a:ext uri="{FF2B5EF4-FFF2-40B4-BE49-F238E27FC236}">
                <a16:creationId xmlns:a16="http://schemas.microsoft.com/office/drawing/2014/main" id="{8D08DB13-8B33-BFD6-E150-05E7B7245B43}"/>
              </a:ext>
            </a:extLst>
          </p:cNvPr>
          <p:cNvCxnSpPr>
            <a:cxnSpLocks/>
          </p:cNvCxnSpPr>
          <p:nvPr/>
        </p:nvCxnSpPr>
        <p:spPr>
          <a:xfrm>
            <a:off x="1455597" y="3701016"/>
            <a:ext cx="418922" cy="0"/>
          </a:xfrm>
          <a:prstGeom prst="line">
            <a:avLst/>
          </a:prstGeom>
          <a:ln w="15240">
            <a:solidFill>
              <a:srgbClr val="266C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4031A04-91F4-1F80-12FC-1FB498FB6557}"/>
              </a:ext>
            </a:extLst>
          </p:cNvPr>
          <p:cNvSpPr txBox="1"/>
          <p:nvPr/>
        </p:nvSpPr>
        <p:spPr>
          <a:xfrm>
            <a:off x="461403" y="4229868"/>
            <a:ext cx="3196197" cy="204671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266CA8"/>
                </a:solidFill>
                <a:latin typeface="Aptos"/>
              </a:rPr>
              <a:t>Technical Stack</a:t>
            </a:r>
          </a:p>
          <a:p>
            <a:endParaRPr lang="en-IN" sz="1400" b="1" dirty="0">
              <a:solidFill>
                <a:srgbClr val="266CA8"/>
              </a:solidFill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100" b="1" dirty="0" err="1">
                <a:latin typeface="Aptos"/>
              </a:rPr>
              <a:t>Exasol</a:t>
            </a:r>
            <a:r>
              <a:rPr lang="en-IN" sz="1100" b="1" dirty="0">
                <a:latin typeface="Aptos"/>
              </a:rPr>
              <a:t>: Central analytical layer</a:t>
            </a:r>
          </a:p>
          <a:p>
            <a:endParaRPr lang="en-IN" sz="1100" b="1" dirty="0"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100" b="1" dirty="0">
                <a:latin typeface="Aptos"/>
              </a:rPr>
              <a:t>SQL: processing  and aggregation</a:t>
            </a:r>
          </a:p>
          <a:p>
            <a:endParaRPr lang="en-IN" sz="1100" b="1" dirty="0"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100" b="1" dirty="0">
                <a:latin typeface="Aptos"/>
              </a:rPr>
              <a:t>Python/UDF: </a:t>
            </a:r>
            <a:r>
              <a:rPr lang="en-IN" sz="1100" b="1" dirty="0" err="1">
                <a:latin typeface="Aptos"/>
              </a:rPr>
              <a:t>Exasol</a:t>
            </a:r>
            <a:r>
              <a:rPr lang="en-IN" sz="1100" b="1" dirty="0">
                <a:latin typeface="Aptos"/>
              </a:rPr>
              <a:t> Python UDFs</a:t>
            </a:r>
          </a:p>
          <a:p>
            <a:endParaRPr lang="en-IN" sz="1100" b="1" dirty="0"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100" b="1" dirty="0">
                <a:latin typeface="Aptos"/>
              </a:rPr>
              <a:t>NumPy</a:t>
            </a:r>
          </a:p>
          <a:p>
            <a:endParaRPr lang="en-IN" sz="1100" b="1" dirty="0"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100" b="1" dirty="0">
                <a:latin typeface="Aptos"/>
              </a:rPr>
              <a:t>Scikit-learn</a:t>
            </a:r>
          </a:p>
        </p:txBody>
      </p:sp>
    </p:spTree>
    <p:extLst>
      <p:ext uri="{BB962C8B-B14F-4D97-AF65-F5344CB8AC3E}">
        <p14:creationId xmlns:p14="http://schemas.microsoft.com/office/powerpoint/2010/main" val="259254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38638B-73BF-2AF6-02BD-EFA805AB6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3C6F62-8FDF-1F0E-4B67-630EF06623DA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3156"/>
          </a:solidFill>
          <a:ln w="12700">
            <a:solidFill>
              <a:srgbClr val="103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1A0AA5-4DA3-3953-A795-62BC2E160C82}"/>
              </a:ext>
            </a:extLst>
          </p:cNvPr>
          <p:cNvSpPr txBox="1"/>
          <p:nvPr/>
        </p:nvSpPr>
        <p:spPr>
          <a:xfrm>
            <a:off x="640080" y="38404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66CA8"/>
                </a:solidFill>
                <a:latin typeface="Aptos"/>
              </a:rPr>
              <a:t>DECISION LAYER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F84A1C-81E9-E582-04C7-56032B635CE5}"/>
              </a:ext>
            </a:extLst>
          </p:cNvPr>
          <p:cNvSpPr txBox="1"/>
          <p:nvPr/>
        </p:nvSpPr>
        <p:spPr>
          <a:xfrm>
            <a:off x="640080" y="686913"/>
            <a:ext cx="1078992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2600" b="1" dirty="0">
                <a:solidFill>
                  <a:srgbClr val="103156"/>
                </a:solidFill>
                <a:latin typeface="Aptos"/>
              </a:rPr>
              <a:t>Results &amp; AI-</a:t>
            </a:r>
            <a:r>
              <a:rPr sz="2600" b="1" dirty="0">
                <a:solidFill>
                  <a:srgbClr val="103156"/>
                </a:solidFill>
                <a:latin typeface="Aptos"/>
              </a:rPr>
              <a:t>Decision Support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3B0D3F91-D6C5-96B2-203E-3CDB5DCD0FAF}"/>
              </a:ext>
            </a:extLst>
          </p:cNvPr>
          <p:cNvCxnSpPr/>
          <p:nvPr/>
        </p:nvCxnSpPr>
        <p:spPr>
          <a:xfrm>
            <a:off x="640080" y="1261872"/>
            <a:ext cx="10908792" cy="0"/>
          </a:xfrm>
          <a:prstGeom prst="line">
            <a:avLst/>
          </a:prstGeom>
          <a:ln w="12700">
            <a:solidFill>
              <a:srgbClr val="BECD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99495D37-3D00-76D7-AA82-0E6DCB0C6AD5}"/>
              </a:ext>
            </a:extLst>
          </p:cNvPr>
          <p:cNvSpPr/>
          <p:nvPr/>
        </p:nvSpPr>
        <p:spPr>
          <a:xfrm>
            <a:off x="640080" y="6510528"/>
            <a:ext cx="10908792" cy="18288"/>
          </a:xfrm>
          <a:prstGeom prst="rect">
            <a:avLst/>
          </a:prstGeom>
          <a:solidFill>
            <a:srgbClr val="BECDDA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FC87F4-A2AD-AAD9-E832-015D2E74CAAF}"/>
              </a:ext>
            </a:extLst>
          </p:cNvPr>
          <p:cNvSpPr txBox="1"/>
          <p:nvPr/>
        </p:nvSpPr>
        <p:spPr>
          <a:xfrm>
            <a:off x="11082528" y="6556248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103156"/>
                </a:solidFill>
                <a:latin typeface="Aptos"/>
              </a:rPr>
              <a:t>06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597962-CC9D-C26C-B067-DA7821CA0BEA}"/>
              </a:ext>
            </a:extLst>
          </p:cNvPr>
          <p:cNvSpPr txBox="1"/>
          <p:nvPr/>
        </p:nvSpPr>
        <p:spPr>
          <a:xfrm>
            <a:off x="960120" y="222199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66CA8"/>
                </a:solidFill>
                <a:latin typeface="Aptos"/>
              </a:rPr>
              <a:t>URBAN CONDITIONS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C15309-93C6-05C9-90CB-3F92A9292DFE}"/>
              </a:ext>
            </a:extLst>
          </p:cNvPr>
          <p:cNvSpPr txBox="1"/>
          <p:nvPr/>
        </p:nvSpPr>
        <p:spPr>
          <a:xfrm>
            <a:off x="987552" y="2633472"/>
            <a:ext cx="15544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4303D"/>
                </a:solidFill>
                <a:latin typeface="Aptos"/>
              </a:rPr>
              <a:t>Air Quality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6D9C5B-822B-1DE7-A08F-DBDB0E05E9EE}"/>
              </a:ext>
            </a:extLst>
          </p:cNvPr>
          <p:cNvSpPr txBox="1"/>
          <p:nvPr/>
        </p:nvSpPr>
        <p:spPr>
          <a:xfrm>
            <a:off x="3246120" y="2633472"/>
            <a:ext cx="91440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dirty="0">
                <a:solidFill>
                  <a:srgbClr val="266CA8"/>
                </a:solidFill>
                <a:latin typeface="Aptos"/>
              </a:rPr>
              <a:t>82 / 100</a:t>
            </a: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434A5016-1A8D-A10A-834E-5E251CF7A261}"/>
              </a:ext>
            </a:extLst>
          </p:cNvPr>
          <p:cNvCxnSpPr/>
          <p:nvPr/>
        </p:nvCxnSpPr>
        <p:spPr>
          <a:xfrm>
            <a:off x="987552" y="2926080"/>
            <a:ext cx="3035808" cy="0"/>
          </a:xfrm>
          <a:prstGeom prst="line">
            <a:avLst/>
          </a:prstGeom>
          <a:ln w="8890">
            <a:solidFill>
              <a:srgbClr val="BECD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DE618AE-4B4B-DAD8-9854-93D4680D7B6E}"/>
              </a:ext>
            </a:extLst>
          </p:cNvPr>
          <p:cNvSpPr txBox="1"/>
          <p:nvPr/>
        </p:nvSpPr>
        <p:spPr>
          <a:xfrm>
            <a:off x="987552" y="3017520"/>
            <a:ext cx="15544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4303D"/>
                </a:solidFill>
                <a:latin typeface="Aptos"/>
              </a:rPr>
              <a:t>Traffic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B4442B-7FC7-8C73-DA58-1057DD78BD7B}"/>
              </a:ext>
            </a:extLst>
          </p:cNvPr>
          <p:cNvSpPr txBox="1"/>
          <p:nvPr/>
        </p:nvSpPr>
        <p:spPr>
          <a:xfrm>
            <a:off x="3246120" y="3017520"/>
            <a:ext cx="91440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>
                <a:solidFill>
                  <a:srgbClr val="266CA8"/>
                </a:solidFill>
                <a:latin typeface="Aptos"/>
              </a:rPr>
              <a:t>78 / 100</a:t>
            </a:r>
          </a:p>
        </p:txBody>
      </p: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633A80A7-E2DB-7003-8128-59E6A5CC92BD}"/>
              </a:ext>
            </a:extLst>
          </p:cNvPr>
          <p:cNvCxnSpPr/>
          <p:nvPr/>
        </p:nvCxnSpPr>
        <p:spPr>
          <a:xfrm>
            <a:off x="987552" y="3310128"/>
            <a:ext cx="3035808" cy="0"/>
          </a:xfrm>
          <a:prstGeom prst="line">
            <a:avLst/>
          </a:prstGeom>
          <a:ln w="8890">
            <a:solidFill>
              <a:srgbClr val="BECD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6719584-AC0B-7120-E03F-8031E08A4B68}"/>
              </a:ext>
            </a:extLst>
          </p:cNvPr>
          <p:cNvSpPr txBox="1"/>
          <p:nvPr/>
        </p:nvSpPr>
        <p:spPr>
          <a:xfrm>
            <a:off x="987552" y="3401568"/>
            <a:ext cx="15544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4303D"/>
                </a:solidFill>
                <a:latin typeface="Aptos"/>
              </a:rPr>
              <a:t>Weather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FB3E25-C9F6-EA19-26EB-DF6343C6AEF9}"/>
              </a:ext>
            </a:extLst>
          </p:cNvPr>
          <p:cNvSpPr txBox="1"/>
          <p:nvPr/>
        </p:nvSpPr>
        <p:spPr>
          <a:xfrm>
            <a:off x="3246120" y="3401568"/>
            <a:ext cx="91440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>
                <a:solidFill>
                  <a:srgbClr val="266CA8"/>
                </a:solidFill>
                <a:latin typeface="Aptos"/>
              </a:rPr>
              <a:t>65 / 100</a:t>
            </a:r>
          </a:p>
        </p:txBody>
      </p: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B910F942-C816-A0C6-8B7F-F38CABF9958B}"/>
              </a:ext>
            </a:extLst>
          </p:cNvPr>
          <p:cNvCxnSpPr/>
          <p:nvPr/>
        </p:nvCxnSpPr>
        <p:spPr>
          <a:xfrm>
            <a:off x="987552" y="3694176"/>
            <a:ext cx="3035808" cy="0"/>
          </a:xfrm>
          <a:prstGeom prst="line">
            <a:avLst/>
          </a:prstGeom>
          <a:ln w="8890">
            <a:solidFill>
              <a:srgbClr val="BECD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8AE1E2B-CBB7-D969-DECB-EC776F7F4F26}"/>
              </a:ext>
            </a:extLst>
          </p:cNvPr>
          <p:cNvSpPr txBox="1"/>
          <p:nvPr/>
        </p:nvSpPr>
        <p:spPr>
          <a:xfrm>
            <a:off x="5212080" y="1627632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66CA8"/>
                </a:solidFill>
                <a:latin typeface="Aptos"/>
              </a:rPr>
              <a:t>INTERPRETATION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4EC14BC-AF99-D8A3-2EB8-9D7589FAA790}"/>
              </a:ext>
            </a:extLst>
          </p:cNvPr>
          <p:cNvSpPr/>
          <p:nvPr/>
        </p:nvSpPr>
        <p:spPr>
          <a:xfrm>
            <a:off x="5212080" y="1965960"/>
            <a:ext cx="2743200" cy="932688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6BE2FE-EE36-59E0-7D83-9A7E859A2C7F}"/>
              </a:ext>
            </a:extLst>
          </p:cNvPr>
          <p:cNvSpPr txBox="1"/>
          <p:nvPr/>
        </p:nvSpPr>
        <p:spPr>
          <a:xfrm>
            <a:off x="5413248" y="2148840"/>
            <a:ext cx="234086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66CA8"/>
                </a:solidFill>
                <a:latin typeface="Aptos"/>
              </a:rPr>
              <a:t>EMERGING PROBLEM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43EC90-0D4C-C868-4280-DEB9066963A2}"/>
              </a:ext>
            </a:extLst>
          </p:cNvPr>
          <p:cNvSpPr txBox="1"/>
          <p:nvPr/>
        </p:nvSpPr>
        <p:spPr>
          <a:xfrm>
            <a:off x="5413248" y="2468880"/>
            <a:ext cx="2340864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4303D"/>
                </a:solidFill>
                <a:latin typeface="Aptos"/>
              </a:rPr>
              <a:t>High congestion combined with poor air quality.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5F9A3DD-E088-C507-F417-E73415D1E3F7}"/>
              </a:ext>
            </a:extLst>
          </p:cNvPr>
          <p:cNvSpPr/>
          <p:nvPr/>
        </p:nvSpPr>
        <p:spPr>
          <a:xfrm>
            <a:off x="8183879" y="1965960"/>
            <a:ext cx="2743200" cy="932688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2750B3-9F49-94F9-222D-B6E0D50E0819}"/>
              </a:ext>
            </a:extLst>
          </p:cNvPr>
          <p:cNvSpPr txBox="1"/>
          <p:nvPr/>
        </p:nvSpPr>
        <p:spPr>
          <a:xfrm>
            <a:off x="8385048" y="2148840"/>
            <a:ext cx="234086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66CA8"/>
                </a:solidFill>
                <a:latin typeface="Aptos"/>
              </a:rPr>
              <a:t>POTENTIAL IMPACT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15E308-CC7A-C7DB-8CE9-31350D5C68F6}"/>
              </a:ext>
            </a:extLst>
          </p:cNvPr>
          <p:cNvSpPr txBox="1"/>
          <p:nvPr/>
        </p:nvSpPr>
        <p:spPr>
          <a:xfrm>
            <a:off x="8385048" y="2468880"/>
            <a:ext cx="2340864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4303D"/>
                </a:solidFill>
                <a:latin typeface="Aptos"/>
              </a:rPr>
              <a:t>Increased travel delays and worsening local pollution.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41A0259-72BA-B421-3296-3432C65C211C}"/>
              </a:ext>
            </a:extLst>
          </p:cNvPr>
          <p:cNvSpPr/>
          <p:nvPr/>
        </p:nvSpPr>
        <p:spPr>
          <a:xfrm>
            <a:off x="5212080" y="3218688"/>
            <a:ext cx="5715000" cy="1078992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709589-3325-ABDA-CD19-2AE65BD83C93}"/>
              </a:ext>
            </a:extLst>
          </p:cNvPr>
          <p:cNvSpPr txBox="1"/>
          <p:nvPr/>
        </p:nvSpPr>
        <p:spPr>
          <a:xfrm>
            <a:off x="5413248" y="3401568"/>
            <a:ext cx="531266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66CA8"/>
                </a:solidFill>
                <a:latin typeface="Aptos"/>
              </a:rPr>
              <a:t>RECOMMENDED INTERVENTION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A4FCB0-B14F-4BD1-9500-5D597A634556}"/>
              </a:ext>
            </a:extLst>
          </p:cNvPr>
          <p:cNvSpPr txBox="1"/>
          <p:nvPr/>
        </p:nvSpPr>
        <p:spPr>
          <a:xfrm>
            <a:off x="5413248" y="3721608"/>
            <a:ext cx="5312664" cy="4846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4303D"/>
                </a:solidFill>
                <a:latin typeface="Aptos"/>
              </a:rPr>
              <a:t>Prioritize traffic diversion and incident-response readiness in high-risk areas.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5928DCC-3369-F283-E94D-99E8FF0933C6}"/>
              </a:ext>
            </a:extLst>
          </p:cNvPr>
          <p:cNvSpPr/>
          <p:nvPr/>
        </p:nvSpPr>
        <p:spPr>
          <a:xfrm>
            <a:off x="5212080" y="4736592"/>
            <a:ext cx="5715000" cy="566928"/>
          </a:xfrm>
          <a:prstGeom prst="roundRect">
            <a:avLst/>
          </a:prstGeom>
          <a:solidFill>
            <a:srgbClr val="E1EEF8"/>
          </a:solidFill>
          <a:ln w="12700">
            <a:solidFill>
              <a:srgbClr val="26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31FC32-FF0C-84EE-F074-D454A8F005DE}"/>
              </a:ext>
            </a:extLst>
          </p:cNvPr>
          <p:cNvSpPr txBox="1"/>
          <p:nvPr/>
        </p:nvSpPr>
        <p:spPr>
          <a:xfrm>
            <a:off x="5394960" y="4919472"/>
            <a:ext cx="534924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03156"/>
                </a:solidFill>
                <a:latin typeface="Aptos"/>
              </a:rPr>
              <a:t>IDENTIFY  →  PREDICT  →  RECOMMEND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CF3972-70D8-E8B6-DE0F-D3A159313A17}"/>
              </a:ext>
            </a:extLst>
          </p:cNvPr>
          <p:cNvSpPr txBox="1"/>
          <p:nvPr/>
        </p:nvSpPr>
        <p:spPr>
          <a:xfrm>
            <a:off x="182880" y="5336648"/>
            <a:ext cx="2377440" cy="600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24303D"/>
                </a:solidFill>
                <a:latin typeface="Aptos"/>
              </a:rPr>
              <a:t>The AI layer converts numerical model outputs into actionable guidance.</a:t>
            </a:r>
          </a:p>
        </p:txBody>
      </p:sp>
    </p:spTree>
    <p:extLst>
      <p:ext uri="{BB962C8B-B14F-4D97-AF65-F5344CB8AC3E}">
        <p14:creationId xmlns:p14="http://schemas.microsoft.com/office/powerpoint/2010/main" val="3187685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25460A-4690-7CA6-AB7C-160495C98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E933E0-3EDC-82BB-3C4F-F49AA7914496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3156"/>
          </a:solidFill>
          <a:ln w="12700">
            <a:solidFill>
              <a:srgbClr val="103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289BCE-C3B5-8E8E-CBF1-95A715B22F2B}"/>
              </a:ext>
            </a:extLst>
          </p:cNvPr>
          <p:cNvSpPr txBox="1"/>
          <p:nvPr/>
        </p:nvSpPr>
        <p:spPr>
          <a:xfrm>
            <a:off x="640080" y="38404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66CA8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BA74C3-3F70-D1A5-82E9-6BD973D5ACAE}"/>
              </a:ext>
            </a:extLst>
          </p:cNvPr>
          <p:cNvSpPr txBox="1"/>
          <p:nvPr/>
        </p:nvSpPr>
        <p:spPr>
          <a:xfrm>
            <a:off x="640080" y="658368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103156"/>
                </a:solidFill>
                <a:latin typeface="Aptos"/>
              </a:rPr>
              <a:t>Expected Outcome &amp; Team Responsibilities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4D6FBB4B-0A45-6006-0DD8-C7C2B9CA6860}"/>
              </a:ext>
            </a:extLst>
          </p:cNvPr>
          <p:cNvCxnSpPr/>
          <p:nvPr/>
        </p:nvCxnSpPr>
        <p:spPr>
          <a:xfrm>
            <a:off x="640080" y="1261872"/>
            <a:ext cx="10908792" cy="0"/>
          </a:xfrm>
          <a:prstGeom prst="line">
            <a:avLst/>
          </a:prstGeom>
          <a:ln w="12700">
            <a:solidFill>
              <a:srgbClr val="BECD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CCC8EC3-F7F6-121A-5937-F94122E0D173}"/>
              </a:ext>
            </a:extLst>
          </p:cNvPr>
          <p:cNvSpPr txBox="1"/>
          <p:nvPr/>
        </p:nvSpPr>
        <p:spPr>
          <a:xfrm>
            <a:off x="11082528" y="6556248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103156"/>
                </a:solidFill>
                <a:latin typeface="Aptos"/>
              </a:rPr>
              <a:t>07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FFFD33-3EBA-36C0-BEBF-E1815113F9CC}"/>
              </a:ext>
            </a:extLst>
          </p:cNvPr>
          <p:cNvSpPr txBox="1"/>
          <p:nvPr/>
        </p:nvSpPr>
        <p:spPr>
          <a:xfrm>
            <a:off x="713232" y="1627632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dirty="0">
                <a:solidFill>
                  <a:srgbClr val="266CA8"/>
                </a:solidFill>
                <a:latin typeface="Aptos"/>
              </a:rPr>
              <a:t>EXPECTED OUTCOME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BC5B1A-063D-2699-1D8E-BCD6E5D53E89}"/>
              </a:ext>
            </a:extLst>
          </p:cNvPr>
          <p:cNvSpPr txBox="1"/>
          <p:nvPr/>
        </p:nvSpPr>
        <p:spPr>
          <a:xfrm>
            <a:off x="822960" y="1993392"/>
            <a:ext cx="16459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66CA8"/>
                </a:solidFill>
                <a:latin typeface="Aptos"/>
              </a:rPr>
              <a:t>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E8CF59-EEBD-E510-831D-BE8A903CE43A}"/>
              </a:ext>
            </a:extLst>
          </p:cNvPr>
          <p:cNvSpPr txBox="1"/>
          <p:nvPr/>
        </p:nvSpPr>
        <p:spPr>
          <a:xfrm>
            <a:off x="1078992" y="1993392"/>
            <a:ext cx="280720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4303D"/>
                </a:solidFill>
                <a:latin typeface="Aptos"/>
              </a:rPr>
              <a:t>Unified view of heterogeneous urban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CE7BCC-72F6-5387-DCBD-A7142C6BAC3F}"/>
              </a:ext>
            </a:extLst>
          </p:cNvPr>
          <p:cNvSpPr txBox="1"/>
          <p:nvPr/>
        </p:nvSpPr>
        <p:spPr>
          <a:xfrm>
            <a:off x="822960" y="2468880"/>
            <a:ext cx="16459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66CA8"/>
                </a:solidFill>
                <a:latin typeface="Aptos"/>
              </a:rPr>
              <a:t>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42BC0B-0AD8-69F4-238F-AAF0BD967B4F}"/>
              </a:ext>
            </a:extLst>
          </p:cNvPr>
          <p:cNvSpPr txBox="1"/>
          <p:nvPr/>
        </p:nvSpPr>
        <p:spPr>
          <a:xfrm>
            <a:off x="1078992" y="2468880"/>
            <a:ext cx="280720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4303D"/>
                </a:solidFill>
                <a:latin typeface="Aptos"/>
              </a:rPr>
              <a:t>Early detection of emerging problems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8A3A-2F90-F923-2F71-FF9106EE3B75}"/>
              </a:ext>
            </a:extLst>
          </p:cNvPr>
          <p:cNvSpPr txBox="1"/>
          <p:nvPr/>
        </p:nvSpPr>
        <p:spPr>
          <a:xfrm>
            <a:off x="822960" y="2944368"/>
            <a:ext cx="16459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66CA8"/>
                </a:solidFill>
                <a:latin typeface="Aptos"/>
              </a:rPr>
              <a:t>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674E33-72E3-4BBB-F5AB-1CB53463A0C3}"/>
              </a:ext>
            </a:extLst>
          </p:cNvPr>
          <p:cNvSpPr txBox="1"/>
          <p:nvPr/>
        </p:nvSpPr>
        <p:spPr>
          <a:xfrm>
            <a:off x="1078992" y="2944368"/>
            <a:ext cx="280720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4303D"/>
                </a:solidFill>
                <a:latin typeface="Aptos"/>
              </a:rPr>
              <a:t>Prediction of potential impact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A1767-6DB3-753C-DC6D-0C6D40424417}"/>
              </a:ext>
            </a:extLst>
          </p:cNvPr>
          <p:cNvSpPr txBox="1"/>
          <p:nvPr/>
        </p:nvSpPr>
        <p:spPr>
          <a:xfrm>
            <a:off x="822960" y="1993392"/>
            <a:ext cx="16459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66CA8"/>
                </a:solidFill>
                <a:latin typeface="Aptos"/>
              </a:rPr>
              <a:t>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987771-FDD5-AA7C-9073-7DB805368AA0}"/>
              </a:ext>
            </a:extLst>
          </p:cNvPr>
          <p:cNvSpPr txBox="1"/>
          <p:nvPr/>
        </p:nvSpPr>
        <p:spPr>
          <a:xfrm>
            <a:off x="822960" y="2468880"/>
            <a:ext cx="16459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66CA8"/>
                </a:solidFill>
                <a:latin typeface="Aptos"/>
              </a:rPr>
              <a:t>•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AA4BD0-85F5-B554-D33C-A486748DB500}"/>
              </a:ext>
            </a:extLst>
          </p:cNvPr>
          <p:cNvSpPr txBox="1"/>
          <p:nvPr/>
        </p:nvSpPr>
        <p:spPr>
          <a:xfrm>
            <a:off x="822960" y="2944368"/>
            <a:ext cx="16459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66CA8"/>
                </a:solidFill>
                <a:latin typeface="Aptos"/>
              </a:rPr>
              <a:t>•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9D2467-8F99-F0B1-34E1-D23418C89CB0}"/>
              </a:ext>
            </a:extLst>
          </p:cNvPr>
          <p:cNvSpPr txBox="1"/>
          <p:nvPr/>
        </p:nvSpPr>
        <p:spPr>
          <a:xfrm>
            <a:off x="4160520" y="1993392"/>
            <a:ext cx="16459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66CA8"/>
                </a:solidFill>
                <a:latin typeface="Aptos"/>
              </a:rPr>
              <a:t>•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FA02F3-4AF5-AF4B-0AC6-AA86F16EBC07}"/>
              </a:ext>
            </a:extLst>
          </p:cNvPr>
          <p:cNvSpPr txBox="1"/>
          <p:nvPr/>
        </p:nvSpPr>
        <p:spPr>
          <a:xfrm>
            <a:off x="4416552" y="1993392"/>
            <a:ext cx="280720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4303D"/>
                </a:solidFill>
                <a:latin typeface="Aptos"/>
              </a:rPr>
              <a:t>Standardized 0–100 risk scores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C4B074-90C9-72DB-12DF-C6E9BE6E22AE}"/>
              </a:ext>
            </a:extLst>
          </p:cNvPr>
          <p:cNvSpPr txBox="1"/>
          <p:nvPr/>
        </p:nvSpPr>
        <p:spPr>
          <a:xfrm>
            <a:off x="4160520" y="2468880"/>
            <a:ext cx="16459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66CA8"/>
                </a:solidFill>
                <a:latin typeface="Aptos"/>
              </a:rPr>
              <a:t>•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B69070-6080-D1CE-E285-DBD153140781}"/>
              </a:ext>
            </a:extLst>
          </p:cNvPr>
          <p:cNvSpPr txBox="1"/>
          <p:nvPr/>
        </p:nvSpPr>
        <p:spPr>
          <a:xfrm>
            <a:off x="4416552" y="2468880"/>
            <a:ext cx="280720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4303D"/>
                </a:solidFill>
                <a:latin typeface="Aptos"/>
              </a:rPr>
              <a:t>Actionable recommendations for city authorities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ACACA4-7301-20FF-8D71-49407872C7E5}"/>
              </a:ext>
            </a:extLst>
          </p:cNvPr>
          <p:cNvSpPr txBox="1"/>
          <p:nvPr/>
        </p:nvSpPr>
        <p:spPr>
          <a:xfrm>
            <a:off x="4160520" y="2944368"/>
            <a:ext cx="16459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66CA8"/>
                </a:solidFill>
                <a:latin typeface="Aptos"/>
              </a:rPr>
              <a:t>•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358BA7-AAAF-E4A7-1FD0-030FB64CD8DE}"/>
              </a:ext>
            </a:extLst>
          </p:cNvPr>
          <p:cNvSpPr txBox="1"/>
          <p:nvPr/>
        </p:nvSpPr>
        <p:spPr>
          <a:xfrm>
            <a:off x="4416552" y="2944368"/>
            <a:ext cx="280720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4303D"/>
                </a:solidFill>
                <a:latin typeface="Aptos"/>
              </a:rPr>
              <a:t>Predictive rather than purely reactive monitoring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3B787A-2533-65C7-03A0-CC8A92D12283}"/>
              </a:ext>
            </a:extLst>
          </p:cNvPr>
          <p:cNvSpPr txBox="1"/>
          <p:nvPr/>
        </p:nvSpPr>
        <p:spPr>
          <a:xfrm>
            <a:off x="484632" y="3644355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dirty="0">
                <a:solidFill>
                  <a:srgbClr val="103156"/>
                </a:solidFill>
                <a:latin typeface="Aptos"/>
              </a:rPr>
              <a:t>From monitoring urban conditions to enabling timely decisions.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4CC5F47D-871D-AE5D-CD83-29903D7DB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50" y="3995339"/>
            <a:ext cx="5122284" cy="2703112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4768A86B-D25E-92AA-AC29-825806C6C7AD}"/>
              </a:ext>
            </a:extLst>
          </p:cNvPr>
          <p:cNvSpPr txBox="1"/>
          <p:nvPr/>
        </p:nvSpPr>
        <p:spPr>
          <a:xfrm>
            <a:off x="7659329" y="1627632"/>
            <a:ext cx="3770671" cy="209288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266CA8"/>
                </a:solidFill>
                <a:latin typeface="Aptos"/>
              </a:rPr>
              <a:t>Conclusion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The current implementation establishes the weather-based prediction, air quality prediction and  decision-support pipeline</a:t>
            </a:r>
          </a:p>
          <a:p>
            <a:r>
              <a:rPr lang="en-US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The next stage expands this foundation into a unified urban-data system capable of analyzing multiple city conditions together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321681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7E9AB0-F506-720D-0F66-8A852FC50017}"/>
              </a:ext>
            </a:extLst>
          </p:cNvPr>
          <p:cNvSpPr txBox="1"/>
          <p:nvPr/>
        </p:nvSpPr>
        <p:spPr>
          <a:xfrm>
            <a:off x="324464" y="678426"/>
            <a:ext cx="623365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Colonna MT" panose="04020805060202030203" pitchFamily="82" charset="0"/>
              </a:rPr>
              <a:t>THANK YOU</a:t>
            </a:r>
          </a:p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r"/>
            <a:r>
              <a:rPr lang="en-IN" b="1" dirty="0">
                <a:solidFill>
                  <a:srgbClr val="103156"/>
                </a:solidFill>
                <a:latin typeface="Aptos"/>
              </a:rPr>
              <a:t>Team </a:t>
            </a:r>
            <a:r>
              <a:rPr lang="en-IN" b="1" dirty="0" err="1">
                <a:solidFill>
                  <a:srgbClr val="103156"/>
                </a:solidFill>
                <a:latin typeface="Aptos"/>
              </a:rPr>
              <a:t>Brainbots</a:t>
            </a:r>
            <a:endParaRPr lang="en-IN" b="1" dirty="0">
              <a:solidFill>
                <a:srgbClr val="103156"/>
              </a:solidFill>
              <a:latin typeface="Aptos"/>
            </a:endParaRPr>
          </a:p>
          <a:p>
            <a:pPr algn="r"/>
            <a:r>
              <a:rPr lang="en-US" sz="1400" b="1" dirty="0"/>
              <a:t>VIT - CHENNAI</a:t>
            </a:r>
          </a:p>
          <a:p>
            <a:pPr algn="r"/>
            <a:endParaRPr lang="en-US" sz="1400" b="1" dirty="0">
              <a:solidFill>
                <a:srgbClr val="24303D"/>
              </a:solidFill>
              <a:latin typeface="Aptos"/>
            </a:endParaRPr>
          </a:p>
          <a:p>
            <a:pPr algn="r"/>
            <a:endParaRPr lang="en-US" sz="1400" b="1" dirty="0">
              <a:solidFill>
                <a:srgbClr val="24303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54092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600</Words>
  <Application>Microsoft Office PowerPoint</Application>
  <PresentationFormat>Widescreen</PresentationFormat>
  <Paragraphs>165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Colonna MT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 Planner – Bright City Theme</dc:title>
  <dc:subject>Bright city-image PowerPoint theme with black typography</dc:subject>
  <dc:creator>OpenAI</dc:creator>
  <cp:keywords>City Planner, PowerPoint Theme, Urban Planning, Bright City</cp:keywords>
  <dc:description>generated using python-pptx</dc:description>
  <cp:lastModifiedBy>Sandeep Ganesh</cp:lastModifiedBy>
  <cp:revision>21</cp:revision>
  <dcterms:created xsi:type="dcterms:W3CDTF">2013-01-27T09:14:16Z</dcterms:created>
  <dcterms:modified xsi:type="dcterms:W3CDTF">2026-08-23T18:28:03Z</dcterms:modified>
  <cp:category/>
</cp:coreProperties>
</file>